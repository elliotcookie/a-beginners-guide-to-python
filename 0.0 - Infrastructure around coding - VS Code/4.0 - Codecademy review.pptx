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334" r:id="rId5"/>
    <p:sldId id="256" r:id="rId6"/>
    <p:sldId id="340" r:id="rId7"/>
    <p:sldId id="335" r:id="rId8"/>
    <p:sldId id="338" r:id="rId9"/>
    <p:sldId id="336" r:id="rId10"/>
    <p:sldId id="343" r:id="rId11"/>
    <p:sldId id="344" r:id="rId12"/>
    <p:sldId id="345" r:id="rId13"/>
    <p:sldId id="346" r:id="rId14"/>
    <p:sldId id="347" r:id="rId15"/>
    <p:sldId id="350" r:id="rId16"/>
    <p:sldId id="349" r:id="rId17"/>
    <p:sldId id="337" r:id="rId18"/>
    <p:sldId id="280" r:id="rId19"/>
    <p:sldId id="351" r:id="rId20"/>
    <p:sldId id="352" r:id="rId21"/>
    <p:sldId id="353" r:id="rId22"/>
    <p:sldId id="354" r:id="rId23"/>
    <p:sldId id="356" r:id="rId24"/>
    <p:sldId id="271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  <a:srgbClr val="FFFFFF"/>
    <a:srgbClr val="FF9900"/>
    <a:srgbClr val="FFFFCC"/>
    <a:srgbClr val="FFCC99"/>
    <a:srgbClr val="FFCCCC"/>
    <a:srgbClr val="F20057"/>
    <a:srgbClr val="FFD636"/>
    <a:srgbClr val="8252DE"/>
    <a:srgbClr val="2040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485" autoAdjust="0"/>
    <p:restoredTop sz="90655" autoAdjust="0"/>
  </p:normalViewPr>
  <p:slideViewPr>
    <p:cSldViewPr snapToGrid="0">
      <p:cViewPr varScale="1">
        <p:scale>
          <a:sx n="83" d="100"/>
          <a:sy n="83" d="100"/>
        </p:scale>
        <p:origin x="86" y="1282"/>
      </p:cViewPr>
      <p:guideLst/>
    </p:cSldViewPr>
  </p:slideViewPr>
  <p:outlineViewPr>
    <p:cViewPr>
      <p:scale>
        <a:sx n="33" d="100"/>
        <a:sy n="33" d="100"/>
      </p:scale>
      <p:origin x="0" y="-288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3403" y="29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E7F456E-01A6-4013-ACA5-F5492591A24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4983A3-9B9B-4D61-97C9-B9E239A3159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6F32FC-4BD9-442A-A8C6-51598C909FE3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EEABE74-7A97-4D17-8390-42ADD25C33C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2C1DBD-1052-425E-BF3C-983304BED5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EEFA9E-C190-4F5C-8394-BD5F1CD55C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4801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6371FA-A98D-41E8-93F4-09945841298A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89C57-55D7-40A4-A101-E74FAC7A092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9902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1288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0996E-02C3-11B9-FF35-057A6317E6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FEBFAC-7BC9-AB2E-0DC7-8C07A4D4E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138C9E-F562-5E19-32AA-54CDDF38CB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98BA9-FD33-6BCD-17E1-3657DC07C4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7783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40235-37A5-2236-9BB7-A7B98B8EC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5716A5-C4A2-2F6C-0A07-F7D27F8DB6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AF1318-7294-676F-B266-5930C1182F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BC6709-3B7A-C995-749C-D8EF59C881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05878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BB25D-45BE-8AD0-81B8-4839366FE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02B30F-5E42-6AE4-3631-BAA281E203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0BCBEA-662A-DEC3-0370-CDB7A1F3D0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803681-A256-D482-E1A5-36B92631D2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909706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B0C19-6EBD-FDB3-A55C-A89EF6AD6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DF871E-76D9-7922-9EF7-3E42BA33A3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C6148F-A877-CF6C-7AFA-73651595CA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63EC30-7C72-89CB-0E1D-1C12828BB1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4154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58478-D97B-EC12-35F6-7EA0ABEAF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8C8AC9-F9C7-C602-88CE-B230480EC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31081C-0B41-C737-6EEF-D003B8024B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11CE4E-237F-900D-E6B3-1B598225F5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71536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01E933-E1AF-FBE7-A6DF-4D54C6D7FA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EB055E-5BEB-AE24-1864-6FA96C093C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96451-E902-1B29-A91B-18CCC540B0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14558C-FBE0-D4B6-5211-37908A9F4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0451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A0B6DE-BBF6-5BD5-C2CB-32BDEDDA2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CD0797-BEB8-6455-8748-292113EC3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66B68C-5E9A-6F95-C4D4-CE7BD81182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BE8A19-2E3E-A768-3FE8-955B03FF54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26718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614402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22F4E-611E-ECA5-DD0A-8C9AF5BA3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0733-D4A6-9A0A-2B20-537A5B8A2D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F6444E-DF9B-7B66-A4BE-4BC02D7BEC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C1E638-D0C6-AA10-5635-FA184D5E6F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67734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5B60D-D8DA-7F09-B3A3-F63F63234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A0B6D-261E-95BB-8DC2-71A94A2795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C2AD4F-1E84-AC15-8BF5-ABB35E0D58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C8425-F6A9-2358-4E8F-2DFC72F369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34025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289C57-55D7-40A4-A101-E74FAC7A092B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26838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41918" y="3329790"/>
            <a:ext cx="4941771" cy="3200400"/>
          </a:xfrm>
        </p:spPr>
        <p:txBody>
          <a:bodyPr anchor="ctr">
            <a:noAutofit/>
          </a:bodyPr>
          <a:lstStyle>
            <a:lvl1pPr algn="l">
              <a:defRPr sz="3600" spc="150" baseline="0"/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A04F1E16-9A84-4D0E-9706-79C396AF6A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26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D514C6BF-376E-43E8-881D-2E76742699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4229100" y="0"/>
            <a:ext cx="796290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21249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Agen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500" y="1020445"/>
            <a:ext cx="2895600" cy="1325563"/>
          </a:xfrm>
        </p:spPr>
        <p:txBody>
          <a:bodyPr anchor="b">
            <a:normAutofit/>
          </a:bodyPr>
          <a:lstStyle>
            <a:lvl1pPr>
              <a:defRPr sz="28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500" y="2674013"/>
            <a:ext cx="2895600" cy="3269589"/>
          </a:xfrm>
        </p:spPr>
        <p:txBody>
          <a:bodyPr>
            <a:normAutofit/>
          </a:bodyPr>
          <a:lstStyle>
            <a:lvl1pPr marL="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lnSpc>
                <a:spcPct val="140000"/>
              </a:lnSpc>
              <a:spcBef>
                <a:spcPts val="1000"/>
              </a:spcBef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4407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018"/>
            <a:ext cx="4179570" cy="3377354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4A96E214-6A61-C8A7-B1DB-C8C260C134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6557818" cy="6858000"/>
            <a:chOff x="0" y="0"/>
            <a:chExt cx="4762501" cy="518636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18BC1BC-99D6-D9F4-19F9-AAE722E2AE61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0" y="876300"/>
              <a:ext cx="4762500" cy="16287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816F797-248B-2C75-29B9-DB65A809D47B}"/>
                </a:ext>
              </a:extLst>
            </p:cNvPr>
            <p:cNvCxnSpPr>
              <a:cxnSpLocks/>
            </p:cNvCxnSpPr>
            <p:nvPr userDrawn="1"/>
          </p:nvCxnSpPr>
          <p:spPr>
            <a:xfrm flipH="1" flipV="1">
              <a:off x="2638425" y="0"/>
              <a:ext cx="2124076" cy="5186363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825017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87680"/>
            <a:ext cx="4179570" cy="337669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D8E94DD-0F7B-3F92-58EA-5F06D557BF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990667" y="0"/>
            <a:ext cx="1126278" cy="2512291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419F5397-34DB-BC88-ADF5-AA470A06FE5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-5080"/>
            <a:ext cx="6576291" cy="6872605"/>
          </a:xfrm>
          <a:custGeom>
            <a:avLst/>
            <a:gdLst>
              <a:gd name="connsiteX0" fmla="*/ 0 w 6576291"/>
              <a:gd name="connsiteY0" fmla="*/ 0 h 6867525"/>
              <a:gd name="connsiteX1" fmla="*/ 6576291 w 6576291"/>
              <a:gd name="connsiteY1" fmla="*/ 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044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  <a:gd name="connsiteX0" fmla="*/ 0 w 6576291"/>
              <a:gd name="connsiteY0" fmla="*/ 0 h 6867525"/>
              <a:gd name="connsiteX1" fmla="*/ 3624811 w 6576291"/>
              <a:gd name="connsiteY1" fmla="*/ 10160 h 6867525"/>
              <a:gd name="connsiteX2" fmla="*/ 6576291 w 6576291"/>
              <a:gd name="connsiteY2" fmla="*/ 6867525 h 6867525"/>
              <a:gd name="connsiteX3" fmla="*/ 0 w 6576291"/>
              <a:gd name="connsiteY3" fmla="*/ 6867525 h 6867525"/>
              <a:gd name="connsiteX4" fmla="*/ 0 w 6576291"/>
              <a:gd name="connsiteY4" fmla="*/ 0 h 6867525"/>
              <a:gd name="connsiteX0" fmla="*/ 0 w 6576291"/>
              <a:gd name="connsiteY0" fmla="*/ 5080 h 6872605"/>
              <a:gd name="connsiteX1" fmla="*/ 3629891 w 6576291"/>
              <a:gd name="connsiteY1" fmla="*/ 0 h 6872605"/>
              <a:gd name="connsiteX2" fmla="*/ 6576291 w 6576291"/>
              <a:gd name="connsiteY2" fmla="*/ 6872605 h 6872605"/>
              <a:gd name="connsiteX3" fmla="*/ 0 w 6576291"/>
              <a:gd name="connsiteY3" fmla="*/ 6872605 h 6872605"/>
              <a:gd name="connsiteX4" fmla="*/ 0 w 6576291"/>
              <a:gd name="connsiteY4" fmla="*/ 5080 h 68726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576291" h="6872605">
                <a:moveTo>
                  <a:pt x="0" y="5080"/>
                </a:moveTo>
                <a:lnTo>
                  <a:pt x="3629891" y="0"/>
                </a:lnTo>
                <a:lnTo>
                  <a:pt x="6576291" y="6872605"/>
                </a:lnTo>
                <a:lnTo>
                  <a:pt x="0" y="6872605"/>
                </a:lnTo>
                <a:lnTo>
                  <a:pt x="0" y="5080"/>
                </a:lnTo>
                <a:close/>
              </a:path>
            </a:pathLst>
          </a:custGeom>
        </p:spPr>
        <p:txBody>
          <a:bodyPr lIns="182880" tIns="182880" bIns="91440">
            <a:normAutofit/>
          </a:bodyPr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40186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22318" y="268360"/>
            <a:ext cx="7288282" cy="212117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EAC9D25F-5B3D-F5B2-5D02-C6BC6AA8987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322388" y="2763078"/>
            <a:ext cx="7288212" cy="3407051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1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8E16CF1-2502-F2F0-2C27-2DD7979033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096374" y="-25401"/>
            <a:ext cx="3095625" cy="6883401"/>
            <a:chOff x="9096375" y="-25401"/>
            <a:chExt cx="3095625" cy="6883401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6322A6FB-333C-65AE-23D8-08BCEA174D43}"/>
                </a:ext>
              </a:extLst>
            </p:cNvPr>
            <p:cNvCxnSpPr/>
            <p:nvPr userDrawn="1"/>
          </p:nvCxnSpPr>
          <p:spPr>
            <a:xfrm>
              <a:off x="9096375" y="1497012"/>
              <a:ext cx="3095625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62BB247-4598-A983-DEBF-6F042C1DB0BC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9381744" y="-25401"/>
              <a:ext cx="2810256" cy="688340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4E84FEE-D475-A71D-7996-5925602ECF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0800000" flipH="1">
            <a:off x="-1" y="-25403"/>
            <a:ext cx="1210573" cy="204816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7459776D-4049-CB00-C321-0627C169BC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EDE114AF-34C6-A062-7340-858BC27DA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49735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3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406400"/>
            <a:ext cx="4179570" cy="3457971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5E045004-3604-59DC-13E0-7A0B2DF78C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329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955F7B05-9431-1FBA-415D-6CF2DF562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093633" cy="391239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568961"/>
            <a:ext cx="8420100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97255"/>
            <a:ext cx="3924300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7FF22E3-5928-787E-B062-FA18127D3BD9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2933700" y="3251596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97255"/>
            <a:ext cx="3943627" cy="464499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178E4D0B-96F1-45F3-6B2A-5FA31A37257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410173" y="3251595"/>
            <a:ext cx="3943627" cy="3234264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5F41582C-9AD2-F126-40F3-D43E77D15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96926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1F76B1-7BEF-7A88-1394-1164BFF08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012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41120" y="558801"/>
            <a:ext cx="9953308" cy="1780860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6A217F83-0BDB-C70B-29FE-2651DE1915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429817" y="0"/>
            <a:ext cx="7762183" cy="2754814"/>
            <a:chOff x="7334250" y="0"/>
            <a:chExt cx="4857750" cy="1724025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0C62368-3F79-C078-7086-B23D2F5A09F8}"/>
                </a:ext>
              </a:extLst>
            </p:cNvPr>
            <p:cNvCxnSpPr/>
            <p:nvPr userDrawn="1"/>
          </p:nvCxnSpPr>
          <p:spPr>
            <a:xfrm flipH="1" flipV="1">
              <a:off x="7334250" y="0"/>
              <a:ext cx="485775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609BDD71-BF2E-BDB0-A625-D8371AEA1CA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487150" y="0"/>
              <a:ext cx="704850" cy="172402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83354B96-CD25-BE1C-8CA2-3825F820B75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1120" y="2960877"/>
            <a:ext cx="2722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CDD81865-54C7-7674-4B2E-041D05C1D146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1341120" y="3392035"/>
            <a:ext cx="2722880" cy="2907164"/>
          </a:xfrm>
        </p:spPr>
        <p:txBody>
          <a:bodyPr tIns="0">
            <a:normAutofit/>
          </a:bodyPr>
          <a:lstStyle>
            <a:lvl1pPr marL="283464" indent="-283464">
              <a:lnSpc>
                <a:spcPct val="100000"/>
              </a:lnSpc>
              <a:buFont typeface="+mj-lt"/>
              <a:buAutoNum type="arabicPeriod"/>
              <a:defRPr sz="1800" b="0" spc="50" baseline="0"/>
            </a:lvl1pPr>
            <a:lvl2pPr marL="566928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eriod"/>
              <a:defRPr sz="1800" spc="50" baseline="0"/>
            </a:lvl2pPr>
            <a:lvl3pPr marL="850392" indent="-342900">
              <a:lnSpc>
                <a:spcPct val="100000"/>
              </a:lnSpc>
              <a:spcBef>
                <a:spcPts val="1000"/>
              </a:spcBef>
              <a:buFont typeface="+mj-lt"/>
              <a:buAutoNum type="arabicParenR"/>
              <a:defRPr sz="1800" spc="50" baseline="0"/>
            </a:lvl3pPr>
            <a:lvl4pPr marL="1042416" indent="-342900">
              <a:lnSpc>
                <a:spcPct val="100000"/>
              </a:lnSpc>
              <a:spcBef>
                <a:spcPts val="1000"/>
              </a:spcBef>
              <a:buFont typeface="+mj-lt"/>
              <a:buAutoNum type="alphaLcParenR"/>
              <a:defRPr sz="1800" spc="50" baseline="0"/>
            </a:lvl4pPr>
            <a:lvl5pPr marL="1074420" indent="-400050">
              <a:lnSpc>
                <a:spcPct val="100000"/>
              </a:lnSpc>
              <a:spcBef>
                <a:spcPts val="1000"/>
              </a:spcBef>
              <a:buFont typeface="+mj-lt"/>
              <a:buAutoNum type="romanLcPeriod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6F39BA57-7F1C-623F-BC7F-B689C5AC33EA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754881" y="2960877"/>
            <a:ext cx="5516880" cy="35128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94BF07A4-5A33-0B3C-A378-AB2435F1D5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4754881" y="3324859"/>
            <a:ext cx="5506720" cy="303148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43000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Footer Placeholder 4">
            <a:extLst>
              <a:ext uri="{FF2B5EF4-FFF2-40B4-BE49-F238E27FC236}">
                <a16:creationId xmlns:a16="http://schemas.microsoft.com/office/drawing/2014/main" id="{63DC63A6-41FE-6C2D-9A53-0AE4A6DBF39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1333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0B5130EC-B05B-5489-FBEC-DBEB6D1E737D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2085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B2CC92D-F90A-CB67-4860-D6939AC295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H="1" flipV="1">
            <a:off x="3094182" y="0"/>
            <a:ext cx="1745673" cy="38977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4" y="1671639"/>
            <a:ext cx="5884027" cy="1204912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4C376638-5C5B-8E5B-0C26-8F63B98EA4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-28230" y="-9144"/>
            <a:ext cx="5481955" cy="6876288"/>
          </a:xfrm>
          <a:custGeom>
            <a:avLst/>
            <a:gdLst>
              <a:gd name="connsiteX0" fmla="*/ 0 w 5476875"/>
              <a:gd name="connsiteY0" fmla="*/ 0 h 6858000"/>
              <a:gd name="connsiteX1" fmla="*/ 547687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0 w 5476875"/>
              <a:gd name="connsiteY0" fmla="*/ 0 h 6858000"/>
              <a:gd name="connsiteX1" fmla="*/ 2520315 w 5476875"/>
              <a:gd name="connsiteY1" fmla="*/ 0 h 6858000"/>
              <a:gd name="connsiteX2" fmla="*/ 5476875 w 5476875"/>
              <a:gd name="connsiteY2" fmla="*/ 6858000 h 6858000"/>
              <a:gd name="connsiteX3" fmla="*/ 0 w 5476875"/>
              <a:gd name="connsiteY3" fmla="*/ 6858000 h 6858000"/>
              <a:gd name="connsiteX4" fmla="*/ 0 w 5476875"/>
              <a:gd name="connsiteY4" fmla="*/ 0 h 6858000"/>
              <a:gd name="connsiteX0" fmla="*/ 5080 w 5481955"/>
              <a:gd name="connsiteY0" fmla="*/ 0 h 6858000"/>
              <a:gd name="connsiteX1" fmla="*/ 2525395 w 5481955"/>
              <a:gd name="connsiteY1" fmla="*/ 0 h 6858000"/>
              <a:gd name="connsiteX2" fmla="*/ 5481955 w 5481955"/>
              <a:gd name="connsiteY2" fmla="*/ 6858000 h 6858000"/>
              <a:gd name="connsiteX3" fmla="*/ 5080 w 5481955"/>
              <a:gd name="connsiteY3" fmla="*/ 6858000 h 6858000"/>
              <a:gd name="connsiteX4" fmla="*/ 0 w 5481955"/>
              <a:gd name="connsiteY4" fmla="*/ 4805680 h 6858000"/>
              <a:gd name="connsiteX5" fmla="*/ 5080 w 5481955"/>
              <a:gd name="connsiteY5" fmla="*/ 0 h 685800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80568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  <a:gd name="connsiteX0" fmla="*/ 5080 w 5481955"/>
              <a:gd name="connsiteY0" fmla="*/ 0 h 6863080"/>
              <a:gd name="connsiteX1" fmla="*/ 2525395 w 5481955"/>
              <a:gd name="connsiteY1" fmla="*/ 0 h 6863080"/>
              <a:gd name="connsiteX2" fmla="*/ 5481955 w 5481955"/>
              <a:gd name="connsiteY2" fmla="*/ 6858000 h 6863080"/>
              <a:gd name="connsiteX3" fmla="*/ 899160 w 5481955"/>
              <a:gd name="connsiteY3" fmla="*/ 6863080 h 6863080"/>
              <a:gd name="connsiteX4" fmla="*/ 0 w 5481955"/>
              <a:gd name="connsiteY4" fmla="*/ 4759960 h 6863080"/>
              <a:gd name="connsiteX5" fmla="*/ 5080 w 5481955"/>
              <a:gd name="connsiteY5" fmla="*/ 0 h 6863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5481955" h="6863080">
                <a:moveTo>
                  <a:pt x="5080" y="0"/>
                </a:moveTo>
                <a:lnTo>
                  <a:pt x="2525395" y="0"/>
                </a:lnTo>
                <a:lnTo>
                  <a:pt x="5481955" y="6858000"/>
                </a:lnTo>
                <a:lnTo>
                  <a:pt x="899160" y="6863080"/>
                </a:lnTo>
                <a:cubicBezTo>
                  <a:pt x="506307" y="5933440"/>
                  <a:pt x="413173" y="5720080"/>
                  <a:pt x="0" y="4759960"/>
                </a:cubicBezTo>
                <a:cubicBezTo>
                  <a:pt x="1693" y="3158067"/>
                  <a:pt x="3387" y="1601893"/>
                  <a:pt x="5080" y="0"/>
                </a:cubicBezTo>
                <a:close/>
              </a:path>
            </a:pathLst>
          </a:custGeom>
        </p:spPr>
        <p:txBody>
          <a:bodyPr lIns="274320" tIns="91440" bIns="91440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04569D00-2037-2A8D-943B-22FAC1C0B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255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75967A9D-0B53-4F3F-0872-495C23A33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643B0E9A-A777-8745-6A36-0A79CB5E036B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5453725" y="3660774"/>
            <a:ext cx="5907176" cy="2536826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177805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1" y="895350"/>
            <a:ext cx="3247662" cy="1917700"/>
          </a:xfrm>
        </p:spPr>
        <p:txBody>
          <a:bodyPr>
            <a:normAutofit/>
          </a:bodyPr>
          <a:lstStyle>
            <a:lvl1pPr algn="l">
              <a:defRPr lang="en-US" sz="24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A14C3057-3BCC-F9A2-98D8-17DDB36F1823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838200" y="2813049"/>
            <a:ext cx="3247662" cy="3238499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4216396" y="895927"/>
            <a:ext cx="7137404" cy="5115889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F91997C-538B-C8B9-14D7-31A1932F6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1615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F777EF4-982E-9337-7E82-31DC723C1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34303BA-AFB6-0E22-486F-785994E3B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327564" cy="1505528"/>
            <a:chOff x="0" y="0"/>
            <a:chExt cx="2238376" cy="3105150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6E3A08-02EB-7B54-5089-E7A7F19FD725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1238250" cy="3105150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814F9BE5-00B2-ADDF-771C-AB098B36C82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2238376" cy="24765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280816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37192"/>
            <a:ext cx="5655197" cy="1997867"/>
          </a:xfrm>
        </p:spPr>
        <p:txBody>
          <a:bodyPr anchor="b">
            <a:normAutofit/>
          </a:bodyPr>
          <a:lstStyle>
            <a:lvl1pPr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2705177"/>
            <a:ext cx="5733772" cy="448990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199" y="3154166"/>
            <a:ext cx="5733773" cy="3032733"/>
          </a:xfrm>
        </p:spPr>
        <p:txBody>
          <a:bodyPr>
            <a:normAutofit/>
          </a:bodyPr>
          <a:lstStyle>
            <a:lvl1pPr marL="2857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1pPr>
            <a:lvl2pPr marL="7429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2pPr>
            <a:lvl3pPr marL="12001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3pPr>
            <a:lvl4pPr marL="16573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4pPr>
            <a:lvl5pPr marL="2114550" indent="-285750">
              <a:lnSpc>
                <a:spcPct val="100000"/>
              </a:lnSpc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887108" y="2705177"/>
            <a:ext cx="3943627" cy="448989"/>
          </a:xfrm>
        </p:spPr>
        <p:txBody>
          <a:bodyPr anchor="ctr">
            <a:noAutofit/>
          </a:bodyPr>
          <a:lstStyle>
            <a:lvl1pPr marL="0" indent="0">
              <a:buNone/>
              <a:defRPr lang="en-US" sz="1800" b="1" kern="1200" spc="50" baseline="0" dirty="0" smtClean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0120DFF5-B64A-9744-4500-1D7BBA19BF1C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7887107" y="3164867"/>
            <a:ext cx="3943627" cy="3032733"/>
          </a:xfrm>
        </p:spPr>
        <p:txBody>
          <a:bodyPr tIns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800" b="0" spc="50" baseline="0"/>
            </a:lvl1pPr>
            <a:lvl2pPr marL="28346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2pPr>
            <a:lvl3pPr marL="566928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3pPr>
            <a:lvl4pPr marL="859536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4pPr>
            <a:lvl5pPr marL="1152144" indent="-285750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800" spc="50" baseline="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86" y="6356350"/>
            <a:ext cx="411480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E0588715-35AD-8BE1-A5FC-E28BDD385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18645" t="319" r="28732" b="73496"/>
          <a:stretch/>
        </p:blipFill>
        <p:spPr>
          <a:xfrm rot="10800000" flipH="1">
            <a:off x="6308436" y="-11"/>
            <a:ext cx="5883564" cy="2366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45194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44E9C70-0200-3C21-7766-CB9EA5FBFA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2590800" cy="1027906"/>
            <a:chOff x="0" y="0"/>
            <a:chExt cx="2590800" cy="1027906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D5E4B16-2071-DEE9-BE53-F35AFBEFCA57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0" y="0"/>
              <a:ext cx="2590800" cy="762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1CB2B071-0355-D550-18A8-9D515CA16987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0" y="0"/>
              <a:ext cx="704850" cy="102790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53550"/>
            <a:ext cx="10515600" cy="1325563"/>
          </a:xfrm>
        </p:spPr>
        <p:txBody>
          <a:bodyPr anchor="b">
            <a:normAutofit/>
          </a:bodyPr>
          <a:lstStyle>
            <a:lvl1pPr algn="ctr">
              <a:defRPr lang="en-US" sz="2800" kern="1200" spc="15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:a16="http://schemas.microsoft.com/office/drawing/2014/main" id="{C3975522-461E-4D79-B5B9-BF9471B54688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838200" y="2111381"/>
            <a:ext cx="10515600" cy="3570963"/>
          </a:xfrm>
        </p:spPr>
        <p:txBody>
          <a:bodyPr>
            <a:normAutofit/>
          </a:bodyPr>
          <a:lstStyle>
            <a:lvl1pPr marL="0" indent="0" algn="ctr">
              <a:buNone/>
              <a:defRPr sz="2000"/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B554B2-4C33-2975-9F27-94B8AE71DF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38200" y="6356349"/>
            <a:ext cx="3819228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503C6776-E983-2BA3-1054-75996FE0FD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068003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anchor="b">
            <a:noAutofit/>
          </a:bodyPr>
          <a:lstStyle>
            <a:lvl1pPr algn="l">
              <a:defRPr sz="3600" spc="15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850181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800" spc="50" baseline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D3361C9-310A-4255-A94E-B77588962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10" name="Footer Placeholder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56350"/>
            <a:ext cx="4179570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1" name="Slide Number Placeholder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/>
          <a:lstStyle>
            <a:lvl1pPr>
              <a:defRPr sz="900"/>
            </a:lvl1pPr>
          </a:lstStyle>
          <a:p>
            <a:fld id="{A49DFD55-3C28-40EF-9E31-A92D2E4017F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11404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9DFD55-3C28-40EF-9E31-A92D2E4017F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90612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88" r:id="rId3"/>
    <p:sldLayoutId id="2147483669" r:id="rId4"/>
    <p:sldLayoutId id="2147483670" r:id="rId5"/>
    <p:sldLayoutId id="2147483651" r:id="rId6"/>
    <p:sldLayoutId id="2147483671" r:id="rId7"/>
    <p:sldLayoutId id="2147483672" r:id="rId8"/>
    <p:sldLayoutId id="2147483673" r:id="rId9"/>
    <p:sldLayoutId id="2147483664" r:id="rId10"/>
    <p:sldLayoutId id="2147483674" r:id="rId11"/>
    <p:sldLayoutId id="2147483653" r:id="rId12"/>
    <p:sldLayoutId id="2147483667" r:id="rId13"/>
    <p:sldLayoutId id="2147483665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jpeg"/><Relationship Id="rId10" Type="http://schemas.openxmlformats.org/officeDocument/2006/relationships/image" Target="../media/image17.jpe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45A2CF-24E2-0E65-34F9-445819177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4D0877-78BC-A7C4-9E91-2AA3A0318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9DFD55-3C28-40EF-9E31-A92D2E4017FF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E62507-DD8A-6BF2-FDC6-93D95D27EB0B}"/>
              </a:ext>
            </a:extLst>
          </p:cNvPr>
          <p:cNvSpPr txBox="1"/>
          <p:nvPr/>
        </p:nvSpPr>
        <p:spPr>
          <a:xfrm>
            <a:off x="205740" y="1874520"/>
            <a:ext cx="891577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 just finished one of the most popular Python courses online, and honestly, would</a:t>
            </a:r>
          </a:p>
          <a:p>
            <a:r>
              <a:rPr lang="en-GB" dirty="0"/>
              <a:t> struggle to recommend it</a:t>
            </a:r>
          </a:p>
          <a:p>
            <a:r>
              <a:rPr lang="en-GB" dirty="0"/>
              <a:t>Hi there, I am Elliot and I am completing and ranking every single beginners python </a:t>
            </a:r>
          </a:p>
          <a:p>
            <a:r>
              <a:rPr lang="en-GB" dirty="0"/>
              <a:t>course on the internet</a:t>
            </a:r>
          </a:p>
          <a:p>
            <a:r>
              <a:rPr lang="en-GB" dirty="0"/>
              <a:t>I think Codecademy has almost been a victim of their own success here, I was expecting so much more but I came away relatively disappointed actually. In this video I’ll be covering the following, and these will all be timestamped in the description below. Lets get into it: </a:t>
            </a:r>
          </a:p>
          <a:p>
            <a:r>
              <a:rPr lang="en-GB" b="1" dirty="0"/>
              <a:t>What is it </a:t>
            </a:r>
            <a:r>
              <a:rPr lang="en-GB" dirty="0"/>
              <a:t>– It’s a freemium one stop shop for basically upskilling in any language</a:t>
            </a:r>
          </a:p>
          <a:p>
            <a:r>
              <a:rPr lang="en-GB" b="1" dirty="0"/>
              <a:t>My ranking </a:t>
            </a:r>
            <a:r>
              <a:rPr lang="en-GB" dirty="0"/>
              <a:t>– and the reasons why (Python 2! Restrictive editor, complete randomness of lessons, no real big picture/context for the lessons)</a:t>
            </a:r>
          </a:p>
          <a:p>
            <a:r>
              <a:rPr lang="en-GB" b="1" dirty="0"/>
              <a:t>The best bit &amp; je ne seis quoi – </a:t>
            </a:r>
            <a:r>
              <a:rPr lang="en-GB" dirty="0"/>
              <a:t>I’d be forcing it if I said there was anything standout great about this course</a:t>
            </a:r>
          </a:p>
          <a:p>
            <a:r>
              <a:rPr lang="en-GB" b="1" dirty="0"/>
              <a:t>The redemption arc – Could it be for you? </a:t>
            </a:r>
            <a:r>
              <a:rPr lang="en-GB" dirty="0"/>
              <a:t>I’ve given them no credit for all the extras, but I’m not doing a website ranking list, I’m doing a python ranking list. I have a feeling this is for businesses with training budget. Because it’s so comprehensive it’s a great platform for a student or employee to learn, and have progress tracked and clearly show it to a manager or whatever. </a:t>
            </a:r>
          </a:p>
          <a:p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0A18CEE-DD89-67C0-FC0A-91B9BBE50335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27554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1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A438754-E8FC-DA61-CCDB-DCBB8D24A3F3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chemeClr val="accent1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E75451-6A4B-484B-9ED1-353CCE25B0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9052" y="5749794"/>
            <a:ext cx="7898735" cy="765015"/>
          </a:xfrm>
        </p:spPr>
        <p:txBody>
          <a:bodyPr anchor="ctr"/>
          <a:lstStyle/>
          <a:p>
            <a:pPr algn="r"/>
            <a:r>
              <a:rPr lang="en-US" sz="2400" dirty="0"/>
              <a:t>Introduction to python</a:t>
            </a:r>
            <a:br>
              <a:rPr lang="en-US" sz="2400" dirty="0"/>
            </a:br>
            <a:r>
              <a:rPr lang="en-US" sz="2400" dirty="0"/>
              <a:t>course review</a:t>
            </a:r>
          </a:p>
        </p:txBody>
      </p:sp>
      <p:pic>
        <p:nvPicPr>
          <p:cNvPr id="4" name="Picture 8">
            <a:extLst>
              <a:ext uri="{FF2B5EF4-FFF2-40B4-BE49-F238E27FC236}">
                <a16:creationId xmlns:a16="http://schemas.microsoft.com/office/drawing/2014/main" id="{4B44282D-B73F-7C87-2A5D-4C0B2A48A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8735" y="4344307"/>
            <a:ext cx="4919052" cy="1034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8847F81-5697-1FCB-86A5-D72AE5FBEB0E}"/>
              </a:ext>
            </a:extLst>
          </p:cNvPr>
          <p:cNvSpPr/>
          <p:nvPr/>
        </p:nvSpPr>
        <p:spPr>
          <a:xfrm>
            <a:off x="-112426" y="-179495"/>
            <a:ext cx="12377998" cy="2363019"/>
          </a:xfrm>
          <a:prstGeom prst="rect">
            <a:avLst/>
          </a:prstGeom>
          <a:noFill/>
          <a:ln>
            <a:solidFill>
              <a:schemeClr val="accent1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60588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5210C-6A48-86C9-E79A-8ED5E5314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0E3602E-54BD-0A63-9020-8689EE9BBD98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rgbClr val="E9E6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9857F52-6461-94EB-E517-B9450D046B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49052" y="5749794"/>
            <a:ext cx="7898735" cy="765015"/>
          </a:xfrm>
        </p:spPr>
        <p:txBody>
          <a:bodyPr anchor="ctr"/>
          <a:lstStyle/>
          <a:p>
            <a:pPr algn="r"/>
            <a:r>
              <a:rPr lang="en-US" sz="2400" dirty="0"/>
              <a:t>Introduction to python</a:t>
            </a:r>
            <a:br>
              <a:rPr lang="en-US" sz="2400" dirty="0"/>
            </a:br>
            <a:r>
              <a:rPr lang="en-US" sz="2400" dirty="0"/>
              <a:t>course review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1579B658-A72A-FD56-AC7B-08366EC78F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8735" y="4344307"/>
            <a:ext cx="4919052" cy="1034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B5A47160-D316-D51B-6F66-4AAA2B5E9398}"/>
              </a:ext>
            </a:extLst>
          </p:cNvPr>
          <p:cNvSpPr/>
          <p:nvPr/>
        </p:nvSpPr>
        <p:spPr>
          <a:xfrm>
            <a:off x="-112426" y="-179495"/>
            <a:ext cx="12377998" cy="236301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11A04339-C91A-7CAF-3D59-906CA4DD380C}"/>
              </a:ext>
            </a:extLst>
          </p:cNvPr>
          <p:cNvCxnSpPr/>
          <p:nvPr/>
        </p:nvCxnSpPr>
        <p:spPr>
          <a:xfrm>
            <a:off x="-112426" y="2177143"/>
            <a:ext cx="2637912" cy="0"/>
          </a:xfrm>
          <a:prstGeom prst="line">
            <a:avLst/>
          </a:prstGeom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15B3BC1-4195-ED59-5028-C574635896D7}"/>
              </a:ext>
            </a:extLst>
          </p:cNvPr>
          <p:cNvCxnSpPr/>
          <p:nvPr/>
        </p:nvCxnSpPr>
        <p:spPr>
          <a:xfrm>
            <a:off x="9699231" y="2191656"/>
            <a:ext cx="2637912" cy="0"/>
          </a:xfrm>
          <a:prstGeom prst="line">
            <a:avLst/>
          </a:prstGeom>
          <a:ln>
            <a:solidFill>
              <a:srgbClr val="E9E6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1356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679C83D-C85C-9D68-199F-310FCDB31CDE}"/>
              </a:ext>
            </a:extLst>
          </p:cNvPr>
          <p:cNvSpPr/>
          <p:nvPr/>
        </p:nvSpPr>
        <p:spPr>
          <a:xfrm>
            <a:off x="-112426" y="-179495"/>
            <a:ext cx="12377998" cy="23630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EFCDFB4-0615-BAA4-2318-EFA3D9BD5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6505" y="2601509"/>
            <a:ext cx="3055495" cy="497825"/>
          </a:xfrm>
        </p:spPr>
        <p:txBody>
          <a:bodyPr/>
          <a:lstStyle/>
          <a:p>
            <a:pPr algn="ctr"/>
            <a:r>
              <a:rPr lang="en-GB" dirty="0"/>
              <a:t>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94977F-840A-2585-8AA6-C23E80CD5F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6504" y="3160477"/>
            <a:ext cx="3055495" cy="3514127"/>
          </a:xfrm>
        </p:spPr>
        <p:txBody>
          <a:bodyPr/>
          <a:lstStyle/>
          <a:p>
            <a:pPr marL="285750" indent="-285750">
              <a:buFontTx/>
              <a:buChar char="-"/>
            </a:pPr>
            <a:r>
              <a:rPr lang="en-GB" dirty="0"/>
              <a:t>WHAT IS IT?</a:t>
            </a:r>
          </a:p>
          <a:p>
            <a:pPr marL="285750" indent="-285750">
              <a:buFontTx/>
              <a:buChar char="-"/>
            </a:pPr>
            <a:r>
              <a:rPr lang="en-GB" dirty="0"/>
              <a:t>SCORING (AND WHY)</a:t>
            </a:r>
          </a:p>
          <a:p>
            <a:pPr marL="285750" indent="-285750">
              <a:buFontTx/>
              <a:buChar char="-"/>
            </a:pPr>
            <a:r>
              <a:rPr lang="en-GB" dirty="0"/>
              <a:t>THE BEST BIT™️</a:t>
            </a:r>
          </a:p>
          <a:p>
            <a:pPr marL="285750" indent="-285750">
              <a:buFontTx/>
              <a:buChar char="-"/>
            </a:pPr>
            <a:r>
              <a:rPr lang="en-GB" dirty="0"/>
              <a:t>FINAL SCORE</a:t>
            </a:r>
          </a:p>
          <a:p>
            <a:pPr marL="285750" indent="-285750">
              <a:buFontTx/>
              <a:buChar char="-"/>
            </a:pPr>
            <a:r>
              <a:rPr lang="en-GB" dirty="0"/>
              <a:t>IS IT FOR YOU?</a:t>
            </a:r>
          </a:p>
          <a:p>
            <a:pPr marL="285750" indent="-285750">
              <a:buFontTx/>
              <a:buChar char="-"/>
            </a:pPr>
            <a:r>
              <a:rPr lang="en-GB" dirty="0"/>
              <a:t>MY ADVICE IF I WAS STARTING OVER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C7CF91D-C840-C284-A9C6-9C65F72D26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 rot="10800000">
            <a:off x="-1" y="0"/>
            <a:ext cx="7709339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58900BC-BB97-A4D9-8E84-9787933ADD7C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547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86B7113-15F9-BCF3-34E3-1CAD2ECE9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7776A-ECB3-3FE3-7C3A-64A33D5FD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85" y="345989"/>
            <a:ext cx="11132695" cy="6136091"/>
          </a:xfrm>
        </p:spPr>
        <p:txBody>
          <a:bodyPr anchor="ctr">
            <a:normAutofit/>
          </a:bodyPr>
          <a:lstStyle/>
          <a:p>
            <a:pPr algn="ctr"/>
            <a:r>
              <a:rPr lang="en-GB" sz="8800" dirty="0"/>
              <a:t>Placeholder </a:t>
            </a:r>
            <a:br>
              <a:rPr lang="en-GB" sz="8800" dirty="0"/>
            </a:br>
            <a:br>
              <a:rPr lang="en-GB" sz="8800" dirty="0"/>
            </a:br>
            <a:r>
              <a:rPr lang="en-GB" sz="8800" dirty="0"/>
              <a:t>browse the website </a:t>
            </a:r>
            <a:br>
              <a:rPr lang="en-GB" sz="8800" dirty="0"/>
            </a:br>
            <a:r>
              <a:rPr lang="en-GB" sz="8800" dirty="0"/>
              <a:t>(what is it)</a:t>
            </a:r>
          </a:p>
        </p:txBody>
      </p:sp>
    </p:spTree>
    <p:extLst>
      <p:ext uri="{BB962C8B-B14F-4D97-AF65-F5344CB8AC3E}">
        <p14:creationId xmlns:p14="http://schemas.microsoft.com/office/powerpoint/2010/main" val="4216802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23C1E-9B0D-019D-4694-187A7A184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7C696-FB1A-54CF-AFB7-C75382EAB86D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59630A-E777-3703-A1F9-E0A893E3B34F}"/>
              </a:ext>
            </a:extLst>
          </p:cNvPr>
          <p:cNvSpPr/>
          <p:nvPr/>
        </p:nvSpPr>
        <p:spPr>
          <a:xfrm>
            <a:off x="-112426" y="-179495"/>
            <a:ext cx="12377998" cy="2363019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C3AB87E0-89A1-1A64-CB93-862E8AF2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7533640" cy="1325563"/>
          </a:xfrm>
        </p:spPr>
        <p:txBody>
          <a:bodyPr anchor="b"/>
          <a:lstStyle/>
          <a:p>
            <a:r>
              <a:rPr lang="en-US" dirty="0"/>
              <a:t>Scoring and why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DB319B7-4C32-4A9E-69B1-D4CBF3A8A0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6</a:t>
            </a:fld>
            <a:endParaRPr lang="en-US" dirty="0"/>
          </a:p>
        </p:txBody>
      </p:sp>
      <p:graphicFrame>
        <p:nvGraphicFramePr>
          <p:cNvPr id="6" name="Table Placeholder 5">
            <a:extLst>
              <a:ext uri="{FF2B5EF4-FFF2-40B4-BE49-F238E27FC236}">
                <a16:creationId xmlns:a16="http://schemas.microsoft.com/office/drawing/2014/main" id="{BE7A8BF7-25D2-9E78-E76F-3478D33CF4E2}"/>
              </a:ext>
            </a:extLst>
          </p:cNvPr>
          <p:cNvGraphicFramePr>
            <a:graphicFrameLocks noGrp="1"/>
          </p:cNvGraphicFramePr>
          <p:nvPr>
            <p:ph type="tbl" sz="quarter" idx="14"/>
            <p:extLst>
              <p:ext uri="{D42A27DB-BD31-4B8C-83A1-F6EECF244321}">
                <p14:modId xmlns:p14="http://schemas.microsoft.com/office/powerpoint/2010/main" val="626129888"/>
              </p:ext>
            </p:extLst>
          </p:nvPr>
        </p:nvGraphicFramePr>
        <p:xfrm>
          <a:off x="838200" y="2288686"/>
          <a:ext cx="105156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46347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86914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8742686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058691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349857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LearnPython.org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Sololearn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Codecademy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Average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30229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Context &amp; Relevance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1795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Course Structure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5.3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594214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Content Quality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167957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Flow &amp; Interactivity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252969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Pacing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6.3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94637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Production &amp; Medium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167192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Value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87355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Je ne sais quoi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972378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Total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43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38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37.7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6826960"/>
                  </a:ext>
                </a:extLst>
              </a:tr>
            </a:tbl>
          </a:graphicData>
        </a:graphic>
      </p:graphicFrame>
      <p:pic>
        <p:nvPicPr>
          <p:cNvPr id="2" name="Graphic 1">
            <a:extLst>
              <a:ext uri="{FF2B5EF4-FFF2-40B4-BE49-F238E27FC236}">
                <a16:creationId xmlns:a16="http://schemas.microsoft.com/office/drawing/2014/main" id="{B5B77194-5B40-128A-F164-64EF72E51A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 rot="16200000">
            <a:off x="7576974" y="4838364"/>
            <a:ext cx="1246835" cy="2085337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CDE07A92-D211-8126-A584-58C623DE36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8301" r="28341" b="23071"/>
          <a:stretch/>
        </p:blipFill>
        <p:spPr>
          <a:xfrm rot="16200000">
            <a:off x="9680094" y="4838363"/>
            <a:ext cx="1246835" cy="208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6605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78C60-D544-76E3-EF35-3C2EB14D5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7DBFD5A3-770C-DC6E-B660-E7AB82DEDDE8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DD8F703-B238-0CDD-9464-E8C041132C2D}"/>
              </a:ext>
            </a:extLst>
          </p:cNvPr>
          <p:cNvSpPr/>
          <p:nvPr/>
        </p:nvSpPr>
        <p:spPr>
          <a:xfrm>
            <a:off x="-112426" y="-179495"/>
            <a:ext cx="12377998" cy="2363019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E053DAC-08B8-8D57-4D4F-F48DC79A7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3200" y="-928818"/>
            <a:ext cx="9953308" cy="1780860"/>
          </a:xfrm>
        </p:spPr>
        <p:txBody>
          <a:bodyPr/>
          <a:lstStyle/>
          <a:p>
            <a:r>
              <a:rPr lang="en-US" dirty="0"/>
              <a:t>Scoring criteria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80D302EC-BC1C-13E4-94AE-8AD6934851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03200" y="1203197"/>
            <a:ext cx="2722880" cy="351284"/>
          </a:xfrm>
        </p:spPr>
        <p:txBody>
          <a:bodyPr/>
          <a:lstStyle/>
          <a:p>
            <a:r>
              <a:rPr lang="en-US"/>
              <a:t>Criteria</a:t>
            </a:r>
            <a:endParaRPr lang="en-US" dirty="0"/>
          </a:p>
        </p:txBody>
      </p:sp>
      <p:sp>
        <p:nvSpPr>
          <p:cNvPr id="36" name="Content Placeholder 35">
            <a:extLst>
              <a:ext uri="{FF2B5EF4-FFF2-40B4-BE49-F238E27FC236}">
                <a16:creationId xmlns:a16="http://schemas.microsoft.com/office/drawing/2014/main" id="{A1BC6CD9-E138-3AC8-7442-2D734F080374}"/>
              </a:ext>
            </a:extLst>
          </p:cNvPr>
          <p:cNvSpPr>
            <a:spLocks noGrp="1"/>
          </p:cNvSpPr>
          <p:nvPr>
            <p:ph sz="half" idx="15"/>
          </p:nvPr>
        </p:nvSpPr>
        <p:spPr>
          <a:xfrm>
            <a:off x="203200" y="1770378"/>
            <a:ext cx="2722880" cy="6184901"/>
          </a:xfrm>
        </p:spPr>
        <p:txBody>
          <a:bodyPr vert="horz" lIns="91440" tIns="0" rIns="91440" bIns="45720" rtlCol="0"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en-US" dirty="0"/>
              <a:t>Context &amp; Relevance</a:t>
            </a:r>
          </a:p>
          <a:p>
            <a:pPr marL="0" indent="0">
              <a:spcBef>
                <a:spcPts val="600"/>
              </a:spcBef>
              <a:buNone/>
            </a:pPr>
            <a:endParaRPr lang="en-US" dirty="0"/>
          </a:p>
          <a:p>
            <a:pPr marL="0" indent="0">
              <a:spcBef>
                <a:spcPts val="600"/>
              </a:spcBef>
              <a:buNone/>
            </a:pPr>
            <a:r>
              <a:rPr lang="en-US" dirty="0"/>
              <a:t>Course Structure</a:t>
            </a:r>
          </a:p>
          <a:p>
            <a:pPr marL="0" indent="0">
              <a:spcBef>
                <a:spcPts val="600"/>
              </a:spcBef>
              <a:buNone/>
            </a:pPr>
            <a:endParaRPr lang="en-US" dirty="0"/>
          </a:p>
          <a:p>
            <a:pPr marL="0" indent="0">
              <a:spcBef>
                <a:spcPts val="600"/>
              </a:spcBef>
              <a:buNone/>
            </a:pPr>
            <a:r>
              <a:rPr lang="en-US" dirty="0"/>
              <a:t>Content Quality</a:t>
            </a:r>
          </a:p>
          <a:p>
            <a:pPr marL="0" indent="0">
              <a:spcBef>
                <a:spcPts val="600"/>
              </a:spcBef>
              <a:buNone/>
            </a:pPr>
            <a:endParaRPr lang="en-US" dirty="0"/>
          </a:p>
          <a:p>
            <a:pPr marL="0" indent="0">
              <a:spcBef>
                <a:spcPts val="600"/>
              </a:spcBef>
              <a:buNone/>
            </a:pPr>
            <a:r>
              <a:rPr lang="en-US" dirty="0"/>
              <a:t>Flow &amp; Interactivity</a:t>
            </a:r>
          </a:p>
          <a:p>
            <a:pPr marL="0" indent="0">
              <a:spcBef>
                <a:spcPts val="600"/>
              </a:spcBef>
              <a:buNone/>
            </a:pPr>
            <a:endParaRPr lang="en-US" dirty="0"/>
          </a:p>
          <a:p>
            <a:pPr marL="0" indent="0">
              <a:spcBef>
                <a:spcPts val="600"/>
              </a:spcBef>
              <a:buNone/>
            </a:pPr>
            <a:r>
              <a:rPr lang="en-US" dirty="0"/>
              <a:t>Pacing</a:t>
            </a:r>
          </a:p>
          <a:p>
            <a:pPr marL="0" indent="0">
              <a:spcBef>
                <a:spcPts val="600"/>
              </a:spcBef>
              <a:buNone/>
            </a:pPr>
            <a:endParaRPr lang="en-US" dirty="0"/>
          </a:p>
          <a:p>
            <a:pPr marL="0" indent="0">
              <a:spcBef>
                <a:spcPts val="600"/>
              </a:spcBef>
              <a:buNone/>
            </a:pPr>
            <a:r>
              <a:rPr lang="en-US" dirty="0"/>
              <a:t>Production Medium</a:t>
            </a:r>
          </a:p>
          <a:p>
            <a:pPr marL="0" indent="0">
              <a:spcBef>
                <a:spcPts val="600"/>
              </a:spcBef>
              <a:buNone/>
            </a:pPr>
            <a:endParaRPr lang="en-US" dirty="0"/>
          </a:p>
          <a:p>
            <a:pPr marL="0" indent="0">
              <a:spcBef>
                <a:spcPts val="600"/>
              </a:spcBef>
              <a:buNone/>
            </a:pPr>
            <a:r>
              <a:rPr lang="en-US" dirty="0"/>
              <a:t>Value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6FECECB-402E-484C-A6A5-CDF4424D8362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3616961" y="1203197"/>
            <a:ext cx="5516880" cy="351284"/>
          </a:xfrm>
        </p:spPr>
        <p:txBody>
          <a:bodyPr/>
          <a:lstStyle/>
          <a:p>
            <a:r>
              <a:rPr lang="en-US" dirty="0"/>
              <a:t>Measure</a:t>
            </a:r>
          </a:p>
          <a:p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C2E86843-9DE5-E455-54C8-F90FF8BE1200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3616960" y="1770379"/>
            <a:ext cx="8371839" cy="6083301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dirty="0"/>
              <a:t>Is it clear </a:t>
            </a:r>
            <a:r>
              <a:rPr lang="en-US" i="1" dirty="0"/>
              <a:t>why</a:t>
            </a:r>
            <a:r>
              <a:rPr lang="en-US" dirty="0"/>
              <a:t> you’re learning each topic?</a:t>
            </a:r>
          </a:p>
          <a:p>
            <a:pPr>
              <a:spcBef>
                <a:spcPts val="600"/>
              </a:spcBef>
            </a:pPr>
            <a:r>
              <a:rPr lang="en-US" dirty="0"/>
              <a:t>Are real‑world use cases or analogies provided?</a:t>
            </a:r>
          </a:p>
          <a:p>
            <a:pPr>
              <a:spcBef>
                <a:spcPts val="600"/>
              </a:spcBef>
            </a:pPr>
            <a:r>
              <a:rPr lang="en-GB" dirty="0"/>
              <a:t>Is the curriculum ordered logically (prereqs before advanced topics)?</a:t>
            </a:r>
          </a:p>
          <a:p>
            <a:pPr>
              <a:spcBef>
                <a:spcPts val="600"/>
              </a:spcBef>
            </a:pPr>
            <a:r>
              <a:rPr lang="en-GB" dirty="0"/>
              <a:t>Are topics grouped clearly rather than scattered?</a:t>
            </a:r>
          </a:p>
          <a:p>
            <a:pPr>
              <a:spcBef>
                <a:spcPts val="600"/>
              </a:spcBef>
            </a:pPr>
            <a:r>
              <a:rPr lang="en-GB" dirty="0"/>
              <a:t>Is enough covered? Do exercises and examples reinforce core concepts?</a:t>
            </a:r>
          </a:p>
          <a:p>
            <a:pPr>
              <a:spcBef>
                <a:spcPts val="600"/>
              </a:spcBef>
            </a:pPr>
            <a:r>
              <a:rPr lang="en-GB" dirty="0"/>
              <a:t>Are the explanations accurate, clear, and free of errors?</a:t>
            </a:r>
          </a:p>
          <a:p>
            <a:pPr>
              <a:spcBef>
                <a:spcPts val="600"/>
              </a:spcBef>
            </a:pPr>
            <a:r>
              <a:rPr lang="en-GB" dirty="0"/>
              <a:t>Do quizzes/tutorials match what was just taught?</a:t>
            </a:r>
          </a:p>
          <a:p>
            <a:pPr>
              <a:spcBef>
                <a:spcPts val="600"/>
              </a:spcBef>
            </a:pPr>
            <a:r>
              <a:rPr lang="en-GB" dirty="0"/>
              <a:t>Is there enough practice to cement learning before moving on?</a:t>
            </a:r>
          </a:p>
          <a:p>
            <a:pPr>
              <a:spcBef>
                <a:spcPts val="600"/>
              </a:spcBef>
            </a:pPr>
            <a:r>
              <a:rPr lang="en-GB" dirty="0"/>
              <a:t>Does energy stay consistent across the full runtime?</a:t>
            </a:r>
          </a:p>
          <a:p>
            <a:pPr>
              <a:spcBef>
                <a:spcPts val="600"/>
              </a:spcBef>
            </a:pPr>
            <a:r>
              <a:rPr lang="en-GB" dirty="0"/>
              <a:t>Is the speed appropriate, never too slow (boring) or too fast (overwhelming)?</a:t>
            </a:r>
          </a:p>
          <a:p>
            <a:pPr>
              <a:spcBef>
                <a:spcPts val="600"/>
              </a:spcBef>
            </a:pPr>
            <a:r>
              <a:rPr lang="en-GB" dirty="0"/>
              <a:t>Is the UI smooth, intuitive to navigate?</a:t>
            </a:r>
          </a:p>
          <a:p>
            <a:pPr>
              <a:spcBef>
                <a:spcPts val="600"/>
              </a:spcBef>
            </a:pPr>
            <a:r>
              <a:rPr lang="en-GB" dirty="0"/>
              <a:t>Is any audio/video on screen detracting or badly edited? </a:t>
            </a:r>
          </a:p>
          <a:p>
            <a:pPr>
              <a:spcBef>
                <a:spcPts val="600"/>
              </a:spcBef>
            </a:pPr>
            <a:r>
              <a:rPr lang="en-GB" dirty="0"/>
              <a:t>Does it feel “premium” enough that you wouldn’t mind paying?</a:t>
            </a:r>
          </a:p>
          <a:p>
            <a:pPr>
              <a:spcBef>
                <a:spcPts val="600"/>
              </a:spcBef>
            </a:pPr>
            <a:r>
              <a:rPr lang="en-GB" dirty="0"/>
              <a:t>Is it worth the price?</a:t>
            </a:r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endParaRPr lang="en-US" dirty="0"/>
          </a:p>
          <a:p>
            <a:pPr>
              <a:spcBef>
                <a:spcPts val="600"/>
              </a:spcBef>
            </a:pPr>
            <a:endParaRPr lang="en-US" dirty="0"/>
          </a:p>
        </p:txBody>
      </p:sp>
      <p:sp>
        <p:nvSpPr>
          <p:cNvPr id="68" name="Slide Number Placeholder 67">
            <a:extLst>
              <a:ext uri="{FF2B5EF4-FFF2-40B4-BE49-F238E27FC236}">
                <a16:creationId xmlns:a16="http://schemas.microsoft.com/office/drawing/2014/main" id="{01881C3A-33C7-7089-516C-DDE96197901C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7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6F67BBA-3AEB-FC82-ED18-BB1E97ECEA8F}"/>
              </a:ext>
            </a:extLst>
          </p:cNvPr>
          <p:cNvCxnSpPr>
            <a:cxnSpLocks/>
          </p:cNvCxnSpPr>
          <p:nvPr/>
        </p:nvCxnSpPr>
        <p:spPr>
          <a:xfrm flipH="1">
            <a:off x="203200" y="2432048"/>
            <a:ext cx="4074160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95B9C88-8EA1-51F7-96EE-FD4452AF2123}"/>
              </a:ext>
            </a:extLst>
          </p:cNvPr>
          <p:cNvCxnSpPr>
            <a:cxnSpLocks/>
          </p:cNvCxnSpPr>
          <p:nvPr/>
        </p:nvCxnSpPr>
        <p:spPr>
          <a:xfrm flipH="1">
            <a:off x="203200" y="3134358"/>
            <a:ext cx="4074160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93110B0-3FE1-98E1-D543-9A2CF95104D8}"/>
              </a:ext>
            </a:extLst>
          </p:cNvPr>
          <p:cNvCxnSpPr>
            <a:cxnSpLocks/>
          </p:cNvCxnSpPr>
          <p:nvPr/>
        </p:nvCxnSpPr>
        <p:spPr>
          <a:xfrm flipH="1">
            <a:off x="203200" y="3836668"/>
            <a:ext cx="4074160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9A48A4E-86CB-12A3-A17B-F2BE0AACBDB8}"/>
              </a:ext>
            </a:extLst>
          </p:cNvPr>
          <p:cNvCxnSpPr>
            <a:cxnSpLocks/>
          </p:cNvCxnSpPr>
          <p:nvPr/>
        </p:nvCxnSpPr>
        <p:spPr>
          <a:xfrm flipH="1">
            <a:off x="203200" y="4538978"/>
            <a:ext cx="4074160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8A081B-58AD-3443-1C98-81E607D567F6}"/>
              </a:ext>
            </a:extLst>
          </p:cNvPr>
          <p:cNvCxnSpPr>
            <a:cxnSpLocks/>
          </p:cNvCxnSpPr>
          <p:nvPr/>
        </p:nvCxnSpPr>
        <p:spPr>
          <a:xfrm flipH="1">
            <a:off x="203200" y="5241288"/>
            <a:ext cx="4074160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7A27B72-6BC7-DD35-2817-58F29F84EA12}"/>
              </a:ext>
            </a:extLst>
          </p:cNvPr>
          <p:cNvCxnSpPr>
            <a:cxnSpLocks/>
          </p:cNvCxnSpPr>
          <p:nvPr/>
        </p:nvCxnSpPr>
        <p:spPr>
          <a:xfrm flipH="1">
            <a:off x="203200" y="5943600"/>
            <a:ext cx="4074160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B557125-C135-4197-A977-C9AC1926CC54}"/>
              </a:ext>
            </a:extLst>
          </p:cNvPr>
          <p:cNvCxnSpPr>
            <a:cxnSpLocks/>
          </p:cNvCxnSpPr>
          <p:nvPr/>
        </p:nvCxnSpPr>
        <p:spPr>
          <a:xfrm flipH="1">
            <a:off x="203200" y="1729738"/>
            <a:ext cx="4074160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43701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E99BA2-4681-CEA0-B089-CD1862201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9909F6D-1ED4-AA6B-46FE-6FE03DC00071}"/>
              </a:ext>
            </a:extLst>
          </p:cNvPr>
          <p:cNvSpPr/>
          <p:nvPr/>
        </p:nvSpPr>
        <p:spPr>
          <a:xfrm>
            <a:off x="9136504" y="-179495"/>
            <a:ext cx="3129068" cy="2363019"/>
          </a:xfrm>
          <a:prstGeom prst="rect">
            <a:avLst/>
          </a:prstGeom>
          <a:noFill/>
          <a:ln>
            <a:solidFill>
              <a:srgbClr val="E9E6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5BA218-7686-5C7F-F59A-8D4CC6DFCA15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rgbClr val="E9E6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D9AC4D-ECA0-C853-8F61-E388A64A9A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749" y="1286494"/>
            <a:ext cx="4179570" cy="3377354"/>
          </a:xfrm>
        </p:spPr>
        <p:txBody>
          <a:bodyPr/>
          <a:lstStyle/>
          <a:p>
            <a:r>
              <a:rPr lang="en-US" dirty="0"/>
              <a:t>Why the Course structure wasn’t great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811E9BD-8B29-74B2-FCFA-26B8F9BDF856}"/>
              </a:ext>
            </a:extLst>
          </p:cNvPr>
          <p:cNvSpPr txBox="1">
            <a:spLocks/>
          </p:cNvSpPr>
          <p:nvPr/>
        </p:nvSpPr>
        <p:spPr>
          <a:xfrm>
            <a:off x="9136504" y="3160477"/>
            <a:ext cx="3055495" cy="351412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strike="sngStrike" dirty="0"/>
              <a:t>WHAT IS IT?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b="1" dirty="0"/>
              <a:t>SCORING (AND WHY)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dirty="0"/>
              <a:t>THE BEST BIT™️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dirty="0"/>
              <a:t>FINAL SCORE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dirty="0"/>
              <a:t>IS IT FOR YOU?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dirty="0"/>
              <a:t>MY ADVICE IF I WAS STARTING OVER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6A7B41-0CB7-CE77-05EB-F1C8AC16FA2B}"/>
              </a:ext>
            </a:extLst>
          </p:cNvPr>
          <p:cNvSpPr/>
          <p:nvPr/>
        </p:nvSpPr>
        <p:spPr>
          <a:xfrm>
            <a:off x="-264160" y="-179495"/>
            <a:ext cx="151734" cy="2363019"/>
          </a:xfrm>
          <a:prstGeom prst="rect">
            <a:avLst/>
          </a:prstGeom>
          <a:noFill/>
          <a:ln>
            <a:solidFill>
              <a:srgbClr val="E9E6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77585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EF8AA2A-4F28-3677-AC4F-5F1DBBE7B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8E766-A41A-53EA-2DB8-612CCD4DD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85" y="345989"/>
            <a:ext cx="11132695" cy="6136091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GB" sz="8800" dirty="0"/>
              <a:t>Placeholder </a:t>
            </a:r>
            <a:br>
              <a:rPr lang="en-GB" sz="8800" dirty="0"/>
            </a:br>
            <a:br>
              <a:rPr lang="en-GB" sz="8800" dirty="0"/>
            </a:br>
            <a:r>
              <a:rPr lang="en-GB" sz="8800" dirty="0"/>
              <a:t>to show excel (why the structure wasn’t great)</a:t>
            </a:r>
          </a:p>
        </p:txBody>
      </p:sp>
    </p:spTree>
    <p:extLst>
      <p:ext uri="{BB962C8B-B14F-4D97-AF65-F5344CB8AC3E}">
        <p14:creationId xmlns:p14="http://schemas.microsoft.com/office/powerpoint/2010/main" val="20100067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D7737-50CA-0FFB-0472-26DCD0E3A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C8DEEC7-229C-F237-D9D4-5081C47AF555}"/>
              </a:ext>
            </a:extLst>
          </p:cNvPr>
          <p:cNvSpPr/>
          <p:nvPr/>
        </p:nvSpPr>
        <p:spPr>
          <a:xfrm>
            <a:off x="9136504" y="-179495"/>
            <a:ext cx="3129068" cy="2363019"/>
          </a:xfrm>
          <a:prstGeom prst="rect">
            <a:avLst/>
          </a:prstGeom>
          <a:noFill/>
          <a:ln>
            <a:solidFill>
              <a:srgbClr val="E9E6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C3FBF27-840B-C65E-1824-2445B91E94F4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rgbClr val="E9E6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2B65C75-2623-8BC6-FE50-752FEFBCB9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469" y="341614"/>
            <a:ext cx="4179570" cy="3377354"/>
          </a:xfrm>
        </p:spPr>
        <p:txBody>
          <a:bodyPr/>
          <a:lstStyle/>
          <a:p>
            <a:r>
              <a:rPr lang="en-US" dirty="0"/>
              <a:t>The best bit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BB727101-4423-4C51-210C-629A855C74C4}"/>
              </a:ext>
            </a:extLst>
          </p:cNvPr>
          <p:cNvSpPr txBox="1">
            <a:spLocks/>
          </p:cNvSpPr>
          <p:nvPr/>
        </p:nvSpPr>
        <p:spPr>
          <a:xfrm>
            <a:off x="9136504" y="3160477"/>
            <a:ext cx="3055495" cy="351412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strike="sngStrike" dirty="0"/>
              <a:t>WHAT IS IT?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strike="sngStrike" dirty="0"/>
              <a:t>SCORING (AND WHY)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b="1" dirty="0"/>
              <a:t>THE BEST BIT™️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dirty="0"/>
              <a:t>FINAL SCORE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dirty="0"/>
              <a:t>IS IT FOR YOU?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dirty="0"/>
              <a:t>MY ADVICE IF I WAS STARTING OVER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FC953D-C46B-A21F-90F0-B8C8F9875878}"/>
              </a:ext>
            </a:extLst>
          </p:cNvPr>
          <p:cNvSpPr/>
          <p:nvPr/>
        </p:nvSpPr>
        <p:spPr>
          <a:xfrm>
            <a:off x="-264160" y="-179495"/>
            <a:ext cx="151734" cy="2363019"/>
          </a:xfrm>
          <a:prstGeom prst="rect">
            <a:avLst/>
          </a:prstGeom>
          <a:noFill/>
          <a:ln>
            <a:solidFill>
              <a:srgbClr val="E9E6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9844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B58056B-63FC-1FE6-6B65-4E8ADEFB1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E7282-8C96-D7EA-0F93-CA0C492058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85" y="345989"/>
            <a:ext cx="11132695" cy="6136091"/>
          </a:xfrm>
        </p:spPr>
        <p:txBody>
          <a:bodyPr anchor="ctr">
            <a:normAutofit fontScale="90000"/>
          </a:bodyPr>
          <a:lstStyle/>
          <a:p>
            <a:pPr algn="ctr"/>
            <a:r>
              <a:rPr lang="en-GB" sz="8800" dirty="0"/>
              <a:t>Placeholder </a:t>
            </a:r>
            <a:br>
              <a:rPr lang="en-GB" sz="8800" dirty="0"/>
            </a:br>
            <a:r>
              <a:rPr lang="en-GB" sz="8800" dirty="0"/>
              <a:t>The best bits</a:t>
            </a:r>
            <a:br>
              <a:rPr lang="en-GB" sz="8800" dirty="0"/>
            </a:br>
            <a:r>
              <a:rPr lang="en-GB" sz="8800" dirty="0"/>
              <a:t>4.15 – reps on reps</a:t>
            </a:r>
            <a:br>
              <a:rPr lang="en-GB" sz="8800" dirty="0"/>
            </a:br>
            <a:r>
              <a:rPr lang="en-GB" sz="8800" dirty="0"/>
              <a:t>timed breakdown</a:t>
            </a:r>
            <a:br>
              <a:rPr lang="en-GB" sz="8800" dirty="0"/>
            </a:br>
            <a:r>
              <a:rPr lang="en-GB" sz="8800" dirty="0"/>
              <a:t>Freemium done well</a:t>
            </a:r>
          </a:p>
        </p:txBody>
      </p:sp>
    </p:spTree>
    <p:extLst>
      <p:ext uri="{BB962C8B-B14F-4D97-AF65-F5344CB8AC3E}">
        <p14:creationId xmlns:p14="http://schemas.microsoft.com/office/powerpoint/2010/main" val="28985419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1BC9AE-5F8F-6288-5AD9-938B74F8E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39FAB3A-A2A8-DE48-8FAA-A5F12C7FC1C5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1D21D6D-DE69-C0AD-7ADA-1F42BC1BC94C}"/>
              </a:ext>
            </a:extLst>
          </p:cNvPr>
          <p:cNvSpPr/>
          <p:nvPr/>
        </p:nvSpPr>
        <p:spPr>
          <a:xfrm>
            <a:off x="-112426" y="-179495"/>
            <a:ext cx="12377998" cy="2363019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D0260DCB-D77A-4C5F-12C3-BBBC789A2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7533640" cy="1325563"/>
          </a:xfrm>
        </p:spPr>
        <p:txBody>
          <a:bodyPr anchor="b"/>
          <a:lstStyle/>
          <a:p>
            <a:r>
              <a:rPr lang="en-US" dirty="0"/>
              <a:t>Final score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2DA64A8A-3D6D-E6D5-8BB3-210F063B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12</a:t>
            </a:fld>
            <a:endParaRPr lang="en-US" dirty="0"/>
          </a:p>
        </p:txBody>
      </p:sp>
      <p:graphicFrame>
        <p:nvGraphicFramePr>
          <p:cNvPr id="6" name="Table Placeholder 5">
            <a:extLst>
              <a:ext uri="{FF2B5EF4-FFF2-40B4-BE49-F238E27FC236}">
                <a16:creationId xmlns:a16="http://schemas.microsoft.com/office/drawing/2014/main" id="{1539D836-B4A5-9653-EADA-0CF83562F44E}"/>
              </a:ext>
            </a:extLst>
          </p:cNvPr>
          <p:cNvGraphicFramePr>
            <a:graphicFrameLocks noGrp="1"/>
          </p:cNvGraphicFramePr>
          <p:nvPr>
            <p:ph type="tbl" sz="quarter" idx="14"/>
          </p:nvPr>
        </p:nvGraphicFramePr>
        <p:xfrm>
          <a:off x="838200" y="2288686"/>
          <a:ext cx="105156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46347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86914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8742686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058691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349857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LearnPython.org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Sololearn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Codecademy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Average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30229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Context &amp; Relevance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1795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Course Structure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5.3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594214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Content Quality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167957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Flow &amp; Interactivity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252969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Pacing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6.3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94637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Production &amp; Medium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167192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Value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87355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Je ne sais quoi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972378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Total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43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38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37.7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68269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02954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46BCF5-11FC-3852-15C9-F4F367C45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32EEEF-E0DE-DD3E-A497-45BC4133BD7B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EC62E3-B309-2BC4-FF07-09C510B8C524}"/>
              </a:ext>
            </a:extLst>
          </p:cNvPr>
          <p:cNvSpPr/>
          <p:nvPr/>
        </p:nvSpPr>
        <p:spPr>
          <a:xfrm>
            <a:off x="-112426" y="-179495"/>
            <a:ext cx="12377998" cy="2363019"/>
          </a:xfrm>
          <a:prstGeom prst="rect">
            <a:avLst/>
          </a:prstGeom>
          <a:noFill/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itle 2">
            <a:extLst>
              <a:ext uri="{FF2B5EF4-FFF2-40B4-BE49-F238E27FC236}">
                <a16:creationId xmlns:a16="http://schemas.microsoft.com/office/drawing/2014/main" id="{EFD11CA1-3E43-1245-7066-94652EFC5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3550"/>
            <a:ext cx="7533640" cy="1325563"/>
          </a:xfrm>
        </p:spPr>
        <p:txBody>
          <a:bodyPr anchor="b"/>
          <a:lstStyle/>
          <a:p>
            <a:r>
              <a:rPr lang="en-US" dirty="0"/>
              <a:t>Final score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2BE708F-39C3-6405-4200-5DEE04000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373350" y="6356349"/>
            <a:ext cx="987552" cy="365125"/>
          </a:xfrm>
        </p:spPr>
        <p:txBody>
          <a:bodyPr/>
          <a:lstStyle/>
          <a:p>
            <a:fld id="{A49DFD55-3C28-40EF-9E31-A92D2E4017FF}" type="slidenum">
              <a:rPr lang="en-US" smtClean="0"/>
              <a:pPr/>
              <a:t>13</a:t>
            </a:fld>
            <a:endParaRPr lang="en-US" dirty="0"/>
          </a:p>
        </p:txBody>
      </p:sp>
      <p:graphicFrame>
        <p:nvGraphicFramePr>
          <p:cNvPr id="6" name="Table Placeholder 5">
            <a:extLst>
              <a:ext uri="{FF2B5EF4-FFF2-40B4-BE49-F238E27FC236}">
                <a16:creationId xmlns:a16="http://schemas.microsoft.com/office/drawing/2014/main" id="{AD32F92D-79C3-78B2-2AA4-8FB0342D9830}"/>
              </a:ext>
            </a:extLst>
          </p:cNvPr>
          <p:cNvGraphicFramePr>
            <a:graphicFrameLocks noGrp="1"/>
          </p:cNvGraphicFramePr>
          <p:nvPr>
            <p:ph type="tbl" sz="quarter" idx="14"/>
          </p:nvPr>
        </p:nvGraphicFramePr>
        <p:xfrm>
          <a:off x="838200" y="2288686"/>
          <a:ext cx="105156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463479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86914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78742686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105869174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3498574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LearnPython.org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Sololearn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Codecademy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Average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302298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Context &amp; Relevance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2.7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61795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Course Structure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5.3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594214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Content Quality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3167957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Flow &amp; Interactivity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4.7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252969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Pacing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6.3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6946373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Production &amp; Medium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7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5.7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1671922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Value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8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6.0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87355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fr-FR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Je ne sais quoi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</a:t>
                      </a: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0</a:t>
                      </a:r>
                    </a:p>
                  </a:txBody>
                  <a:tcPr marL="7620" marR="7620" marT="7620" marB="0" anchor="ctr"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1.0</a:t>
                      </a: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9723782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Total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43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38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32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GB" sz="1600" b="1" i="0" u="none" strike="noStrike" dirty="0">
                          <a:solidFill>
                            <a:schemeClr val="bg1">
                              <a:lumMod val="95000"/>
                            </a:schemeClr>
                          </a:solidFill>
                          <a:effectLst/>
                          <a:latin typeface="+mn-lt"/>
                        </a:rPr>
                        <a:t>37.7</a:t>
                      </a:r>
                    </a:p>
                  </a:txBody>
                  <a:tcPr marL="7620" marR="7620" marT="7620" marB="0"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6826960"/>
                  </a:ext>
                </a:extLst>
              </a:tr>
            </a:tbl>
          </a:graphicData>
        </a:graphic>
      </p:graphicFrame>
      <p:pic>
        <p:nvPicPr>
          <p:cNvPr id="2" name="Graphic 1">
            <a:extLst>
              <a:ext uri="{FF2B5EF4-FFF2-40B4-BE49-F238E27FC236}">
                <a16:creationId xmlns:a16="http://schemas.microsoft.com/office/drawing/2014/main" id="{BE32BF54-DFE9-01DE-0C5C-A198FE90D3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 rot="16200000">
            <a:off x="7576974" y="4838364"/>
            <a:ext cx="1246835" cy="2085337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CBAB14D4-7A20-5262-CA3E-7F20128B9B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8301" r="28341" b="23071"/>
          <a:stretch/>
        </p:blipFill>
        <p:spPr>
          <a:xfrm rot="16200000">
            <a:off x="9680094" y="4838363"/>
            <a:ext cx="1246835" cy="2085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860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9ACE721-3F79-6AE8-0E87-182A3633F89B}"/>
              </a:ext>
            </a:extLst>
          </p:cNvPr>
          <p:cNvSpPr/>
          <p:nvPr/>
        </p:nvSpPr>
        <p:spPr>
          <a:xfrm>
            <a:off x="-112426" y="-179495"/>
            <a:ext cx="12377998" cy="236301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51804CD-ADAD-63EC-EED7-2FE9B85B6124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Picture 8">
            <a:extLst>
              <a:ext uri="{FF2B5EF4-FFF2-40B4-BE49-F238E27FC236}">
                <a16:creationId xmlns:a16="http://schemas.microsoft.com/office/drawing/2014/main" id="{1411A906-B852-1CD7-433B-D89B6034C8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4444" y="2499663"/>
            <a:ext cx="2853044" cy="599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1C4D1672-4DD9-1E02-CB06-7D3F58709C0A}"/>
              </a:ext>
            </a:extLst>
          </p:cNvPr>
          <p:cNvSpPr txBox="1">
            <a:spLocks/>
          </p:cNvSpPr>
          <p:nvPr/>
        </p:nvSpPr>
        <p:spPr>
          <a:xfrm>
            <a:off x="1293779" y="1740144"/>
            <a:ext cx="3994841" cy="60145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 cap="all" spc="15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b="1" dirty="0">
                <a:solidFill>
                  <a:schemeClr val="tx1"/>
                </a:solidFill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Learnpython.org</a:t>
            </a:r>
          </a:p>
        </p:txBody>
      </p:sp>
      <p:pic>
        <p:nvPicPr>
          <p:cNvPr id="14" name="Picture 4">
            <a:extLst>
              <a:ext uri="{FF2B5EF4-FFF2-40B4-BE49-F238E27FC236}">
                <a16:creationId xmlns:a16="http://schemas.microsoft.com/office/drawing/2014/main" id="{B5F95CB9-7C3A-39E2-A0B6-0E8400A383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8135" y="3074027"/>
            <a:ext cx="3437809" cy="653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6E1C1CC7-6518-A2BE-C173-8BD3469C78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4444" y="4204723"/>
            <a:ext cx="1754868" cy="316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4">
            <a:extLst>
              <a:ext uri="{FF2B5EF4-FFF2-40B4-BE49-F238E27FC236}">
                <a16:creationId xmlns:a16="http://schemas.microsoft.com/office/drawing/2014/main" id="{862B716C-4587-6760-EDDD-5B7303CB89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263" r="30108"/>
          <a:stretch>
            <a:fillRect/>
          </a:stretch>
        </p:blipFill>
        <p:spPr bwMode="auto">
          <a:xfrm>
            <a:off x="10830445" y="3526292"/>
            <a:ext cx="1299693" cy="570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6" descr="Get Started | MIT OpenCourseWare | Free Online Course Materials">
            <a:extLst>
              <a:ext uri="{FF2B5EF4-FFF2-40B4-BE49-F238E27FC236}">
                <a16:creationId xmlns:a16="http://schemas.microsoft.com/office/drawing/2014/main" id="{22925E21-B8E5-E281-0A25-AFCA562DCA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4445" y="3526293"/>
            <a:ext cx="1449420" cy="5707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6781B41B-12EA-614F-820A-7B4C06C27CB8}"/>
              </a:ext>
            </a:extLst>
          </p:cNvPr>
          <p:cNvSpPr/>
          <p:nvPr/>
        </p:nvSpPr>
        <p:spPr>
          <a:xfrm>
            <a:off x="321013" y="275788"/>
            <a:ext cx="972766" cy="972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accent5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dirty="0"/>
              <a:t>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CAE5C9C-8197-CC3D-A3FF-762BF9A49677}"/>
              </a:ext>
            </a:extLst>
          </p:cNvPr>
          <p:cNvSpPr/>
          <p:nvPr/>
        </p:nvSpPr>
        <p:spPr>
          <a:xfrm>
            <a:off x="321013" y="1595405"/>
            <a:ext cx="972766" cy="97200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dirty="0"/>
              <a:t>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8E9CCF4-C916-7030-3F7B-AA97DBB197DD}"/>
              </a:ext>
            </a:extLst>
          </p:cNvPr>
          <p:cNvSpPr/>
          <p:nvPr/>
        </p:nvSpPr>
        <p:spPr>
          <a:xfrm>
            <a:off x="321013" y="2915022"/>
            <a:ext cx="972766" cy="972000"/>
          </a:xfrm>
          <a:prstGeom prst="rect">
            <a:avLst/>
          </a:prstGeom>
          <a:solidFill>
            <a:srgbClr val="FFFFCC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dirty="0">
                <a:solidFill>
                  <a:schemeClr val="tx1"/>
                </a:solidFill>
              </a:rPr>
              <a:t>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BB6AC57-A1FE-E1AC-279E-725E5BB1CF59}"/>
              </a:ext>
            </a:extLst>
          </p:cNvPr>
          <p:cNvSpPr/>
          <p:nvPr/>
        </p:nvSpPr>
        <p:spPr>
          <a:xfrm>
            <a:off x="321013" y="4234639"/>
            <a:ext cx="972766" cy="972000"/>
          </a:xfrm>
          <a:prstGeom prst="rect">
            <a:avLst/>
          </a:prstGeom>
          <a:solidFill>
            <a:srgbClr val="FFCC99"/>
          </a:solidFill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dirty="0"/>
              <a:t>C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3DB11D1-5F67-817C-A2A5-97C6779DC719}"/>
              </a:ext>
            </a:extLst>
          </p:cNvPr>
          <p:cNvSpPr/>
          <p:nvPr/>
        </p:nvSpPr>
        <p:spPr>
          <a:xfrm>
            <a:off x="321013" y="5554255"/>
            <a:ext cx="972766" cy="972000"/>
          </a:xfrm>
          <a:prstGeom prst="rect">
            <a:avLst/>
          </a:prstGeom>
          <a:solidFill>
            <a:srgbClr val="FFCCCC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800" dirty="0"/>
              <a:t>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F013E7E-F2E6-347F-914B-F5A671EF0A3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4444" y="4661423"/>
            <a:ext cx="1093779" cy="57070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92B8BF85-A332-6920-5663-D0F692642D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32323" y="6071249"/>
            <a:ext cx="1475375" cy="481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80E87AAB-922D-206A-BF22-00EAF32F15F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34445" y="5336737"/>
            <a:ext cx="1093778" cy="599833"/>
          </a:xfrm>
          <a:prstGeom prst="rect">
            <a:avLst/>
          </a:prstGeom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FFFB3E49-AA90-FE49-4675-928F6D8A4A5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29" t="15514" r="16621" b="17279"/>
          <a:stretch>
            <a:fillRect/>
          </a:stretch>
        </p:blipFill>
        <p:spPr bwMode="auto">
          <a:xfrm>
            <a:off x="10419329" y="5336736"/>
            <a:ext cx="575219" cy="5998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A418B1D9-02B3-D340-A510-8E40C382C4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06066" y="4654084"/>
            <a:ext cx="916930" cy="593744"/>
          </a:xfrm>
          <a:prstGeom prst="rect">
            <a:avLst/>
          </a:prstGeom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F11B4571-B7AB-8853-B5CD-81A42AD98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4444" y="6041175"/>
            <a:ext cx="1151301" cy="5014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688BF98F-0AC1-1AD7-2575-66AD57F239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51576" y="3210760"/>
            <a:ext cx="1508135" cy="213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>
            <a:extLst>
              <a:ext uri="{FF2B5EF4-FFF2-40B4-BE49-F238E27FC236}">
                <a16:creationId xmlns:a16="http://schemas.microsoft.com/office/drawing/2014/main" id="{1405A891-176A-D32B-219E-C6EB87E398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759" y="5419162"/>
            <a:ext cx="998085" cy="3735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456961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F792418A-2C8A-7121-E812-CC0D54851969}"/>
              </a:ext>
            </a:extLst>
          </p:cNvPr>
          <p:cNvSpPr/>
          <p:nvPr/>
        </p:nvSpPr>
        <p:spPr>
          <a:xfrm>
            <a:off x="9136504" y="-179495"/>
            <a:ext cx="3129067" cy="23630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CA96B5-988D-C8B5-89C8-F3AF42F9A63C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6C97BE-403B-122E-90D1-2788978A0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407910" y="1216506"/>
            <a:ext cx="4179570" cy="3457971"/>
          </a:xfrm>
        </p:spPr>
        <p:txBody>
          <a:bodyPr/>
          <a:lstStyle/>
          <a:p>
            <a:r>
              <a:rPr lang="en-US" dirty="0"/>
              <a:t>Is it for you?</a:t>
            </a:r>
          </a:p>
        </p:txBody>
      </p:sp>
    </p:spTree>
    <p:extLst>
      <p:ext uri="{BB962C8B-B14F-4D97-AF65-F5344CB8AC3E}">
        <p14:creationId xmlns:p14="http://schemas.microsoft.com/office/powerpoint/2010/main" val="3346967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6BDA33F-9359-815C-0EAE-A49C9C233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D60CCA-329B-EACE-E3A4-BB0CFCC70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85" y="345989"/>
            <a:ext cx="11132695" cy="6136091"/>
          </a:xfrm>
        </p:spPr>
        <p:txBody>
          <a:bodyPr anchor="ctr">
            <a:normAutofit/>
          </a:bodyPr>
          <a:lstStyle/>
          <a:p>
            <a:pPr algn="ctr"/>
            <a:r>
              <a:rPr lang="en-GB" sz="8800" dirty="0"/>
              <a:t>Placeholder </a:t>
            </a:r>
            <a:br>
              <a:rPr lang="en-GB" sz="8800" dirty="0"/>
            </a:br>
            <a:r>
              <a:rPr lang="en-GB" sz="8800" dirty="0"/>
              <a:t>browsing all the niche features of the site </a:t>
            </a:r>
          </a:p>
        </p:txBody>
      </p:sp>
    </p:spTree>
    <p:extLst>
      <p:ext uri="{BB962C8B-B14F-4D97-AF65-F5344CB8AC3E}">
        <p14:creationId xmlns:p14="http://schemas.microsoft.com/office/powerpoint/2010/main" val="2083093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4B30F-4E2F-4DE4-2865-BDBEED273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0E16B6B-DD49-08C8-7999-70155FC8881C}"/>
              </a:ext>
            </a:extLst>
          </p:cNvPr>
          <p:cNvSpPr/>
          <p:nvPr/>
        </p:nvSpPr>
        <p:spPr>
          <a:xfrm>
            <a:off x="9136504" y="-179495"/>
            <a:ext cx="3129068" cy="2363019"/>
          </a:xfrm>
          <a:prstGeom prst="rect">
            <a:avLst/>
          </a:prstGeom>
          <a:noFill/>
          <a:ln>
            <a:solidFill>
              <a:srgbClr val="E9E6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7E2AA3-C8A5-3756-DEAC-B9E3ED29048E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rgbClr val="E9E6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4147DC-C0BF-D9E1-50B0-3BF5B94EE9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469" y="3160477"/>
            <a:ext cx="4179570" cy="1030931"/>
          </a:xfrm>
        </p:spPr>
        <p:txBody>
          <a:bodyPr/>
          <a:lstStyle/>
          <a:p>
            <a:r>
              <a:rPr lang="en-US" dirty="0"/>
              <a:t>If I was starting over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076E68B-5BFF-24FB-F5F9-D8C82C7F3ACF}"/>
              </a:ext>
            </a:extLst>
          </p:cNvPr>
          <p:cNvSpPr txBox="1">
            <a:spLocks/>
          </p:cNvSpPr>
          <p:nvPr/>
        </p:nvSpPr>
        <p:spPr>
          <a:xfrm>
            <a:off x="9136504" y="3160477"/>
            <a:ext cx="3055495" cy="351412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strike="sngStrike" dirty="0"/>
              <a:t>WHAT IS IT?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strike="sngStrike" dirty="0"/>
              <a:t>SCORING (AND WHY)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strike="sngStrike" dirty="0"/>
              <a:t>THE BEST BIT™️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strike="sngStrike" dirty="0"/>
              <a:t>FINAL SCORE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strike="sngStrike" dirty="0"/>
              <a:t>IS IT FOR YOU?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b="1" dirty="0"/>
              <a:t>MY ADVICE IF I WAS STARTING OVER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BCEB128-B5EA-8293-FD45-1B642D4B848C}"/>
              </a:ext>
            </a:extLst>
          </p:cNvPr>
          <p:cNvSpPr/>
          <p:nvPr/>
        </p:nvSpPr>
        <p:spPr>
          <a:xfrm>
            <a:off x="-264160" y="-179495"/>
            <a:ext cx="151734" cy="2363019"/>
          </a:xfrm>
          <a:prstGeom prst="rect">
            <a:avLst/>
          </a:prstGeom>
          <a:noFill/>
          <a:ln>
            <a:solidFill>
              <a:srgbClr val="E9E6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62387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F556814-6863-2F42-1D4D-C8E401F3B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BE7E2-8E1E-EE55-511F-55FB0AC66D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85" y="345989"/>
            <a:ext cx="11132695" cy="6136091"/>
          </a:xfrm>
        </p:spPr>
        <p:txBody>
          <a:bodyPr anchor="ctr">
            <a:normAutofit/>
          </a:bodyPr>
          <a:lstStyle/>
          <a:p>
            <a:pPr algn="ctr"/>
            <a:r>
              <a:rPr lang="en-GB" sz="8800" dirty="0"/>
              <a:t>Return to slide 14 - rankings</a:t>
            </a:r>
          </a:p>
        </p:txBody>
      </p:sp>
    </p:spTree>
    <p:extLst>
      <p:ext uri="{BB962C8B-B14F-4D97-AF65-F5344CB8AC3E}">
        <p14:creationId xmlns:p14="http://schemas.microsoft.com/office/powerpoint/2010/main" val="26053219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72D23B2-09CA-985C-FF8D-062403459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94F3A-F2A6-71D2-E341-6B365A94EB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85" y="345989"/>
            <a:ext cx="11132695" cy="6136091"/>
          </a:xfrm>
        </p:spPr>
        <p:txBody>
          <a:bodyPr anchor="ctr">
            <a:normAutofit/>
          </a:bodyPr>
          <a:lstStyle/>
          <a:p>
            <a:pPr algn="ctr"/>
            <a:r>
              <a:rPr lang="en-GB" sz="8800" dirty="0"/>
              <a:t>browse </a:t>
            </a:r>
            <a:br>
              <a:rPr lang="en-GB" sz="8800" dirty="0"/>
            </a:br>
            <a:r>
              <a:rPr lang="en-GB" sz="8800" dirty="0"/>
              <a:t>learn python . org</a:t>
            </a:r>
          </a:p>
        </p:txBody>
      </p:sp>
    </p:spTree>
    <p:extLst>
      <p:ext uri="{BB962C8B-B14F-4D97-AF65-F5344CB8AC3E}">
        <p14:creationId xmlns:p14="http://schemas.microsoft.com/office/powerpoint/2010/main" val="33555821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49CAE-3246-EF7E-AC12-D6E8F7EE2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CBE7817-63FF-964C-F0A9-F6A0EA138D83}"/>
              </a:ext>
            </a:extLst>
          </p:cNvPr>
          <p:cNvSpPr/>
          <p:nvPr/>
        </p:nvSpPr>
        <p:spPr>
          <a:xfrm>
            <a:off x="9136504" y="-179495"/>
            <a:ext cx="3129068" cy="2363019"/>
          </a:xfrm>
          <a:prstGeom prst="rect">
            <a:avLst/>
          </a:prstGeom>
          <a:noFill/>
          <a:ln>
            <a:solidFill>
              <a:srgbClr val="E9E6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AD2119D-3E94-9600-0D33-AAB8E3B098C5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rgbClr val="E9E6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F6F271-9028-8E17-A983-A329C57BFB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2469" y="2723597"/>
            <a:ext cx="4179570" cy="1030931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654992D7-E6C3-AF2A-000A-F4C3C1AA3A8A}"/>
              </a:ext>
            </a:extLst>
          </p:cNvPr>
          <p:cNvSpPr txBox="1">
            <a:spLocks/>
          </p:cNvSpPr>
          <p:nvPr/>
        </p:nvSpPr>
        <p:spPr>
          <a:xfrm>
            <a:off x="9136504" y="3160477"/>
            <a:ext cx="3055495" cy="351412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dirty="0"/>
              <a:t>WHAT IS IT?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dirty="0"/>
              <a:t>SCORING (AND WHY)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dirty="0"/>
              <a:t>THE BEST BIT™️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dirty="0"/>
              <a:t>FINAL SCORE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dirty="0"/>
              <a:t>IS IT FOR YOU?</a:t>
            </a:r>
          </a:p>
          <a:p>
            <a:pPr marL="285750" indent="-285750">
              <a:lnSpc>
                <a:spcPct val="140000"/>
              </a:lnSpc>
              <a:buFontTx/>
              <a:buChar char="-"/>
            </a:pPr>
            <a:r>
              <a:rPr lang="en-GB" sz="1800" dirty="0"/>
              <a:t>MY ADVICE IF I WAS STARTING OVER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9584277-C830-8BEA-18E7-1C75E6267A4D}"/>
              </a:ext>
            </a:extLst>
          </p:cNvPr>
          <p:cNvSpPr/>
          <p:nvPr/>
        </p:nvSpPr>
        <p:spPr>
          <a:xfrm>
            <a:off x="-264160" y="-179495"/>
            <a:ext cx="151734" cy="2363019"/>
          </a:xfrm>
          <a:prstGeom prst="rect">
            <a:avLst/>
          </a:prstGeom>
          <a:noFill/>
          <a:ln>
            <a:solidFill>
              <a:srgbClr val="E9E6D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1101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1EDE-5423-435C-B149-87AB1BC22B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31683" y="2085991"/>
            <a:ext cx="4179570" cy="1524735"/>
          </a:xfrm>
        </p:spPr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9259A789-8FC1-DACA-B495-B8DB3440844D}"/>
              </a:ext>
            </a:extLst>
          </p:cNvPr>
          <p:cNvSpPr txBox="1">
            <a:spLocks/>
          </p:cNvSpPr>
          <p:nvPr/>
        </p:nvSpPr>
        <p:spPr>
          <a:xfrm>
            <a:off x="4152250" y="4879901"/>
            <a:ext cx="7898735" cy="7650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spc="15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400" dirty="0"/>
              <a:t>Introduction to python</a:t>
            </a:r>
            <a:br>
              <a:rPr lang="en-US" sz="2400" dirty="0"/>
            </a:br>
            <a:r>
              <a:rPr lang="en-US" sz="2400" dirty="0"/>
              <a:t>course review</a:t>
            </a:r>
          </a:p>
        </p:txBody>
      </p:sp>
      <p:pic>
        <p:nvPicPr>
          <p:cNvPr id="8" name="Picture 8">
            <a:extLst>
              <a:ext uri="{FF2B5EF4-FFF2-40B4-BE49-F238E27FC236}">
                <a16:creationId xmlns:a16="http://schemas.microsoft.com/office/drawing/2014/main" id="{A37213AE-5CDA-8D1B-AB06-9718B1163C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2626" y="4312886"/>
            <a:ext cx="2268359" cy="476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A5C8B57-CC0E-CD6F-D82C-66EC56988996}"/>
              </a:ext>
            </a:extLst>
          </p:cNvPr>
          <p:cNvSpPr/>
          <p:nvPr/>
        </p:nvSpPr>
        <p:spPr>
          <a:xfrm>
            <a:off x="9136504" y="-179495"/>
            <a:ext cx="3129067" cy="23630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C2D473B-E330-1C79-55B9-A4FBAC74FF6D}"/>
              </a:ext>
            </a:extLst>
          </p:cNvPr>
          <p:cNvSpPr/>
          <p:nvPr/>
        </p:nvSpPr>
        <p:spPr>
          <a:xfrm>
            <a:off x="-112426" y="-187377"/>
            <a:ext cx="9248931" cy="72177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0A1D792-1E91-E3FE-AF3C-6EA3B86507C5}"/>
              </a:ext>
            </a:extLst>
          </p:cNvPr>
          <p:cNvSpPr txBox="1">
            <a:spLocks/>
          </p:cNvSpPr>
          <p:nvPr/>
        </p:nvSpPr>
        <p:spPr>
          <a:xfrm>
            <a:off x="4152251" y="5537024"/>
            <a:ext cx="7898735" cy="76501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spc="15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n-US" sz="2000" dirty="0">
                <a:solidFill>
                  <a:schemeClr val="accent1">
                    <a:lumMod val="75000"/>
                  </a:schemeClr>
                </a:solidFill>
              </a:rPr>
              <a:t>Elliot Cooke</a:t>
            </a:r>
          </a:p>
        </p:txBody>
      </p:sp>
    </p:spTree>
    <p:extLst>
      <p:ext uri="{BB962C8B-B14F-4D97-AF65-F5344CB8AC3E}">
        <p14:creationId xmlns:p14="http://schemas.microsoft.com/office/powerpoint/2010/main" val="196978756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49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ustom" id="{F85C13B5-8B75-4CB8-BA5E-9CAC0747196D}" vid="{617487EE-AB70-4C55-8A81-E6744CC4A2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ABF691C-888B-4061-8A6F-D5CE84A0254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EDE3176-A15D-46A3-BDDB-64A0D736322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49168DCE-134F-4610-A6AA-88CEBE8D71D2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Minimalist presentation</Template>
  <TotalTime>1620</TotalTime>
  <Words>870</Words>
  <Application>Microsoft Office PowerPoint</Application>
  <PresentationFormat>Widescreen</PresentationFormat>
  <Paragraphs>260</Paragraphs>
  <Slides>21</Slides>
  <Notes>12</Notes>
  <HiddenSlides>9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ADLaM Display</vt:lpstr>
      <vt:lpstr>Arial</vt:lpstr>
      <vt:lpstr>Calibri</vt:lpstr>
      <vt:lpstr>Tenorite</vt:lpstr>
      <vt:lpstr>Custom</vt:lpstr>
      <vt:lpstr>PowerPoint Presentation</vt:lpstr>
      <vt:lpstr>Introduction to python course review</vt:lpstr>
      <vt:lpstr>Introduction to python course review</vt:lpstr>
      <vt:lpstr>Today</vt:lpstr>
      <vt:lpstr>Placeholder   browse the website  (what is it)</vt:lpstr>
      <vt:lpstr>Scoring and why</vt:lpstr>
      <vt:lpstr>Scoring criteria</vt:lpstr>
      <vt:lpstr>Why the Course structure wasn’t great</vt:lpstr>
      <vt:lpstr>Placeholder   to show excel (why the structure wasn’t great)</vt:lpstr>
      <vt:lpstr>The best bit</vt:lpstr>
      <vt:lpstr>Placeholder  The best bits 4.15 – reps on reps timed breakdown Freemium done well</vt:lpstr>
      <vt:lpstr>Final score</vt:lpstr>
      <vt:lpstr>Final score</vt:lpstr>
      <vt:lpstr>PowerPoint Presentation</vt:lpstr>
      <vt:lpstr>Is it for you?</vt:lpstr>
      <vt:lpstr>Placeholder  browsing all the niche features of the site </vt:lpstr>
      <vt:lpstr>If I was starting over</vt:lpstr>
      <vt:lpstr>Return to slide 14 - rankings</vt:lpstr>
      <vt:lpstr>browse  learn python . org</vt:lpstr>
      <vt:lpstr>Thank you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Elliot Cooke</dc:creator>
  <cp:lastModifiedBy>Elliot Cooke</cp:lastModifiedBy>
  <cp:revision>5</cp:revision>
  <dcterms:created xsi:type="dcterms:W3CDTF">2026-04-15T07:14:01Z</dcterms:created>
  <dcterms:modified xsi:type="dcterms:W3CDTF">2026-04-22T22:19:44Z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