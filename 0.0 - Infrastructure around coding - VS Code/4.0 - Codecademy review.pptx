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33"/>
  </p:notesMasterIdLst>
  <p:handoutMasterIdLst>
    <p:handoutMasterId r:id="rId34"/>
  </p:handoutMasterIdLst>
  <p:sldIdLst>
    <p:sldId id="334" r:id="rId5"/>
    <p:sldId id="298" r:id="rId6"/>
    <p:sldId id="333" r:id="rId7"/>
    <p:sldId id="256" r:id="rId8"/>
    <p:sldId id="257" r:id="rId9"/>
    <p:sldId id="278" r:id="rId10"/>
    <p:sldId id="279" r:id="rId11"/>
    <p:sldId id="258" r:id="rId12"/>
    <p:sldId id="280" r:id="rId13"/>
    <p:sldId id="281" r:id="rId14"/>
    <p:sldId id="282" r:id="rId15"/>
    <p:sldId id="266" r:id="rId16"/>
    <p:sldId id="283" r:id="rId17"/>
    <p:sldId id="284" r:id="rId18"/>
    <p:sldId id="285" r:id="rId19"/>
    <p:sldId id="271" r:id="rId20"/>
    <p:sldId id="299" r:id="rId21"/>
    <p:sldId id="327" r:id="rId22"/>
    <p:sldId id="319" r:id="rId23"/>
    <p:sldId id="322" r:id="rId24"/>
    <p:sldId id="329" r:id="rId25"/>
    <p:sldId id="328" r:id="rId26"/>
    <p:sldId id="309" r:id="rId27"/>
    <p:sldId id="330" r:id="rId28"/>
    <p:sldId id="331" r:id="rId29"/>
    <p:sldId id="326" r:id="rId30"/>
    <p:sldId id="314" r:id="rId31"/>
    <p:sldId id="332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0057"/>
    <a:srgbClr val="FFD636"/>
    <a:srgbClr val="8252DE"/>
    <a:srgbClr val="204056"/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1" autoAdjust="0"/>
    <p:restoredTop sz="90655" autoAdjust="0"/>
  </p:normalViewPr>
  <p:slideViewPr>
    <p:cSldViewPr snapToGrid="0">
      <p:cViewPr>
        <p:scale>
          <a:sx n="100" d="100"/>
          <a:sy n="100" d="100"/>
        </p:scale>
        <p:origin x="58" y="1800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1">
  <dgm:title val=""/>
  <dgm:desc val=""/>
  <dgm:catLst>
    <dgm:cat type="accent3" pri="11100"/>
  </dgm:catLst>
  <dgm:styleLbl name="node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3">
        <a:alpha val="4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66480AC-C0DE-4E5E-9ECD-9AE37E3FCB79}" type="doc">
      <dgm:prSet loTypeId="urn:microsoft.com/office/officeart/2005/8/layout/vList4" loCatId="list" qsTypeId="urn:microsoft.com/office/officeart/2005/8/quickstyle/simple1" qsCatId="simple" csTypeId="urn:microsoft.com/office/officeart/2005/8/colors/accent3_1" csCatId="accent3" phldr="1"/>
      <dgm:spPr/>
      <dgm:t>
        <a:bodyPr/>
        <a:lstStyle/>
        <a:p>
          <a:endParaRPr lang="en-US"/>
        </a:p>
      </dgm:t>
    </dgm:pt>
    <dgm:pt modelId="{A8C03FBB-4A75-4460-AEA6-DEAEB9C61496}">
      <dgm:prSet phldrT="[Text]" phldr="0" custT="1"/>
      <dgm:spPr/>
      <dgm:t>
        <a:bodyPr anchor="ctr"/>
        <a:lstStyle/>
        <a:p>
          <a:pPr marL="182880" algn="l">
            <a:lnSpc>
              <a:spcPct val="100000"/>
            </a:lnSpc>
            <a:spcAft>
              <a:spcPts val="0"/>
            </a:spcAft>
            <a:buNone/>
          </a:pPr>
          <a:r>
            <a:rPr lang="en-US" sz="1800" b="1" dirty="0"/>
            <a:t>Q3</a:t>
          </a:r>
        </a:p>
      </dgm:t>
    </dgm:pt>
    <dgm:pt modelId="{4E972F7F-4B1B-47AA-A25B-1FFC561F1C76}" type="parTrans" cxnId="{D3D81948-D963-4D1E-AE16-9705EAF510FC}">
      <dgm:prSet/>
      <dgm:spPr/>
      <dgm:t>
        <a:bodyPr/>
        <a:lstStyle/>
        <a:p>
          <a:pPr marL="182880" algn="l"/>
          <a:endParaRPr lang="en-US" sz="1800"/>
        </a:p>
      </dgm:t>
    </dgm:pt>
    <dgm:pt modelId="{67361508-930A-4A23-8CFC-BB56DA645C3C}" type="sibTrans" cxnId="{D3D81948-D963-4D1E-AE16-9705EAF510FC}">
      <dgm:prSet/>
      <dgm:spPr/>
      <dgm:t>
        <a:bodyPr/>
        <a:lstStyle/>
        <a:p>
          <a:pPr marL="182880" algn="l"/>
          <a:endParaRPr lang="en-US" sz="1800"/>
        </a:p>
      </dgm:t>
    </dgm:pt>
    <dgm:pt modelId="{5E71F362-34DF-4EEC-92A3-0EFE450E05E4}">
      <dgm:prSet phldrT="[Text]" phldr="0" custT="1"/>
      <dgm:spPr/>
      <dgm:t>
        <a:bodyPr anchor="ctr"/>
        <a:lstStyle/>
        <a:p>
          <a:pPr marL="365760" algn="l">
            <a:lnSpc>
              <a:spcPct val="100000"/>
            </a:lnSpc>
            <a:spcAft>
              <a:spcPts val="0"/>
            </a:spcAft>
            <a:buNone/>
          </a:pPr>
          <a:r>
            <a:rPr lang="en-US" sz="1800" dirty="0"/>
            <a:t>Market research</a:t>
          </a:r>
        </a:p>
      </dgm:t>
    </dgm:pt>
    <dgm:pt modelId="{8E5EE4D1-908E-455C-B8B3-281AD42DEC9A}" type="parTrans" cxnId="{B99CA6C9-28D1-4DDB-B8EC-AED73AD115CA}">
      <dgm:prSet/>
      <dgm:spPr/>
      <dgm:t>
        <a:bodyPr/>
        <a:lstStyle/>
        <a:p>
          <a:pPr marL="182880" algn="l"/>
          <a:endParaRPr lang="en-US" sz="1800"/>
        </a:p>
      </dgm:t>
    </dgm:pt>
    <dgm:pt modelId="{B208B24A-E9FD-40A9-B764-FB7C2B7ED8B9}" type="sibTrans" cxnId="{B99CA6C9-28D1-4DDB-B8EC-AED73AD115CA}">
      <dgm:prSet/>
      <dgm:spPr/>
      <dgm:t>
        <a:bodyPr/>
        <a:lstStyle/>
        <a:p>
          <a:pPr marL="182880" algn="l"/>
          <a:endParaRPr lang="en-US" sz="1800"/>
        </a:p>
      </dgm:t>
    </dgm:pt>
    <dgm:pt modelId="{91969DED-4CB8-4A14-A50B-3F7B848E46B5}">
      <dgm:prSet phldrT="[Text]" phldr="0" custT="1"/>
      <dgm:spPr/>
      <dgm:t>
        <a:bodyPr anchor="ctr"/>
        <a:lstStyle/>
        <a:p>
          <a:pPr marL="182880" algn="l">
            <a:lnSpc>
              <a:spcPct val="100000"/>
            </a:lnSpc>
            <a:spcAft>
              <a:spcPts val="0"/>
            </a:spcAft>
            <a:buNone/>
          </a:pPr>
          <a:r>
            <a:rPr lang="en-US" sz="1800" b="1" dirty="0"/>
            <a:t>Q4</a:t>
          </a:r>
        </a:p>
      </dgm:t>
    </dgm:pt>
    <dgm:pt modelId="{441CD73D-85E1-42A6-BCF8-362A3247E2F3}" type="parTrans" cxnId="{537F2ED0-8BD0-4AD5-B60D-89B660EDA1AC}">
      <dgm:prSet/>
      <dgm:spPr/>
      <dgm:t>
        <a:bodyPr/>
        <a:lstStyle/>
        <a:p>
          <a:pPr marL="182880" algn="l"/>
          <a:endParaRPr lang="en-US" sz="1800"/>
        </a:p>
      </dgm:t>
    </dgm:pt>
    <dgm:pt modelId="{81CA8AA2-C0C3-4381-BA8B-413EDD578B83}" type="sibTrans" cxnId="{537F2ED0-8BD0-4AD5-B60D-89B660EDA1AC}">
      <dgm:prSet/>
      <dgm:spPr/>
      <dgm:t>
        <a:bodyPr/>
        <a:lstStyle/>
        <a:p>
          <a:pPr marL="182880" algn="l"/>
          <a:endParaRPr lang="en-US" sz="1800"/>
        </a:p>
      </dgm:t>
    </dgm:pt>
    <dgm:pt modelId="{8A04F340-E8E1-4146-9905-E7ADCAEAABD7}">
      <dgm:prSet phldrT="[Text]" phldr="0" custT="1"/>
      <dgm:spPr/>
      <dgm:t>
        <a:bodyPr anchor="ctr"/>
        <a:lstStyle/>
        <a:p>
          <a:pPr marL="365760" algn="l">
            <a:lnSpc>
              <a:spcPct val="100000"/>
            </a:lnSpc>
            <a:spcAft>
              <a:spcPts val="0"/>
            </a:spcAft>
            <a:buNone/>
          </a:pPr>
          <a:r>
            <a:rPr lang="en-US" sz="1800" dirty="0"/>
            <a:t>Product development</a:t>
          </a:r>
        </a:p>
      </dgm:t>
    </dgm:pt>
    <dgm:pt modelId="{4EBD5EC2-45ED-4ED6-8376-97D155A911AE}" type="parTrans" cxnId="{E636BFFB-0404-4D4B-B3F0-C64FDFD9DDEF}">
      <dgm:prSet/>
      <dgm:spPr/>
      <dgm:t>
        <a:bodyPr/>
        <a:lstStyle/>
        <a:p>
          <a:pPr marL="182880" algn="l"/>
          <a:endParaRPr lang="en-US" sz="1800"/>
        </a:p>
      </dgm:t>
    </dgm:pt>
    <dgm:pt modelId="{F9CD2A04-6A34-4104-A971-391788B88F55}" type="sibTrans" cxnId="{E636BFFB-0404-4D4B-B3F0-C64FDFD9DDEF}">
      <dgm:prSet/>
      <dgm:spPr/>
      <dgm:t>
        <a:bodyPr/>
        <a:lstStyle/>
        <a:p>
          <a:pPr marL="182880" algn="l"/>
          <a:endParaRPr lang="en-US" sz="1800"/>
        </a:p>
      </dgm:t>
    </dgm:pt>
    <dgm:pt modelId="{3CC73758-10C1-47F8-AFA7-1A986D4DDD60}">
      <dgm:prSet phldrT="[Text]" phldr="0" custT="1"/>
      <dgm:spPr/>
      <dgm:t>
        <a:bodyPr anchor="ctr"/>
        <a:lstStyle/>
        <a:p>
          <a:pPr marL="182880" algn="l">
            <a:lnSpc>
              <a:spcPct val="100000"/>
            </a:lnSpc>
            <a:spcAft>
              <a:spcPts val="0"/>
            </a:spcAft>
            <a:buNone/>
          </a:pPr>
          <a:r>
            <a:rPr lang="en-US" sz="1800" b="1" dirty="0"/>
            <a:t>Q1</a:t>
          </a:r>
        </a:p>
      </dgm:t>
    </dgm:pt>
    <dgm:pt modelId="{FF6AE4B6-4A2F-49EE-9316-9AF55E77838B}" type="parTrans" cxnId="{4A69F85D-5C15-48FD-893A-B3050E1BADEB}">
      <dgm:prSet/>
      <dgm:spPr/>
      <dgm:t>
        <a:bodyPr/>
        <a:lstStyle/>
        <a:p>
          <a:pPr marL="182880" algn="l"/>
          <a:endParaRPr lang="en-US" sz="1800"/>
        </a:p>
      </dgm:t>
    </dgm:pt>
    <dgm:pt modelId="{D8170BBA-6035-4773-8431-FEDD687647FF}" type="sibTrans" cxnId="{4A69F85D-5C15-48FD-893A-B3050E1BADEB}">
      <dgm:prSet/>
      <dgm:spPr/>
      <dgm:t>
        <a:bodyPr/>
        <a:lstStyle/>
        <a:p>
          <a:pPr marL="182880" algn="l"/>
          <a:endParaRPr lang="en-US" sz="1800"/>
        </a:p>
      </dgm:t>
    </dgm:pt>
    <dgm:pt modelId="{FD9CA14A-483C-4869-B0C1-7C5FB7EEDBCC}">
      <dgm:prSet phldrT="[Text]" phldr="0" custT="1"/>
      <dgm:spPr/>
      <dgm:t>
        <a:bodyPr anchor="ctr"/>
        <a:lstStyle/>
        <a:p>
          <a:pPr marL="365760" algn="l">
            <a:lnSpc>
              <a:spcPct val="100000"/>
            </a:lnSpc>
            <a:spcAft>
              <a:spcPts val="0"/>
            </a:spcAft>
            <a:buNone/>
          </a:pPr>
          <a:r>
            <a:rPr lang="en-US" sz="1800" dirty="0"/>
            <a:t>User testing</a:t>
          </a:r>
        </a:p>
      </dgm:t>
    </dgm:pt>
    <dgm:pt modelId="{8182A92F-45BA-4CD1-8E43-0B0810A50FEB}" type="parTrans" cxnId="{5EDA943F-300F-408A-A52E-3D5140FD5C22}">
      <dgm:prSet/>
      <dgm:spPr/>
      <dgm:t>
        <a:bodyPr/>
        <a:lstStyle/>
        <a:p>
          <a:pPr marL="182880" algn="l"/>
          <a:endParaRPr lang="en-US" sz="1800"/>
        </a:p>
      </dgm:t>
    </dgm:pt>
    <dgm:pt modelId="{914BB93C-EA8A-4B5B-8F06-30DA7C7F4B7B}" type="sibTrans" cxnId="{5EDA943F-300F-408A-A52E-3D5140FD5C22}">
      <dgm:prSet/>
      <dgm:spPr/>
      <dgm:t>
        <a:bodyPr/>
        <a:lstStyle/>
        <a:p>
          <a:pPr marL="182880" algn="l"/>
          <a:endParaRPr lang="en-US" sz="1800"/>
        </a:p>
      </dgm:t>
    </dgm:pt>
    <dgm:pt modelId="{D2FE027B-4161-41E1-B4D4-02AECB2E3FA0}">
      <dgm:prSet phldrT="[Text]" phldr="0" custT="1"/>
      <dgm:spPr/>
      <dgm:t>
        <a:bodyPr anchor="ctr"/>
        <a:lstStyle/>
        <a:p>
          <a:pPr marL="182880" algn="l">
            <a:lnSpc>
              <a:spcPct val="100000"/>
            </a:lnSpc>
            <a:spcAft>
              <a:spcPts val="0"/>
            </a:spcAft>
            <a:buNone/>
          </a:pPr>
          <a:r>
            <a:rPr lang="en-US" sz="1800" b="1" dirty="0"/>
            <a:t>Q2</a:t>
          </a:r>
        </a:p>
      </dgm:t>
    </dgm:pt>
    <dgm:pt modelId="{88680CFE-3CE0-4842-B3D3-716D3B671238}" type="parTrans" cxnId="{4F4F82A2-02F1-492B-96C1-46C070BEFCE3}">
      <dgm:prSet/>
      <dgm:spPr/>
      <dgm:t>
        <a:bodyPr/>
        <a:lstStyle/>
        <a:p>
          <a:pPr marL="182880" algn="l"/>
          <a:endParaRPr lang="en-US" sz="1800"/>
        </a:p>
      </dgm:t>
    </dgm:pt>
    <dgm:pt modelId="{4D59E06B-629C-40B5-96D3-423B7A56C945}" type="sibTrans" cxnId="{4F4F82A2-02F1-492B-96C1-46C070BEFCE3}">
      <dgm:prSet/>
      <dgm:spPr/>
      <dgm:t>
        <a:bodyPr/>
        <a:lstStyle/>
        <a:p>
          <a:pPr marL="182880" algn="l"/>
          <a:endParaRPr lang="en-US" sz="1800"/>
        </a:p>
      </dgm:t>
    </dgm:pt>
    <dgm:pt modelId="{2BE415B7-7185-4956-8487-237B40BC0EE5}">
      <dgm:prSet phldrT="[Text]" phldr="0" custT="1"/>
      <dgm:spPr/>
      <dgm:t>
        <a:bodyPr anchor="ctr"/>
        <a:lstStyle/>
        <a:p>
          <a:pPr marL="365760" algn="l">
            <a:lnSpc>
              <a:spcPct val="100000"/>
            </a:lnSpc>
            <a:spcAft>
              <a:spcPts val="0"/>
            </a:spcAft>
            <a:buNone/>
          </a:pPr>
          <a:r>
            <a:rPr lang="en-US" sz="1800" dirty="0"/>
            <a:t>Product launch</a:t>
          </a:r>
        </a:p>
      </dgm:t>
    </dgm:pt>
    <dgm:pt modelId="{A38E847E-0D1D-4F40-9A71-4D5999ADE08B}" type="parTrans" cxnId="{CB32A309-9CA9-4554-941D-519A91A9E733}">
      <dgm:prSet/>
      <dgm:spPr/>
      <dgm:t>
        <a:bodyPr/>
        <a:lstStyle/>
        <a:p>
          <a:pPr marL="182880" algn="l"/>
          <a:endParaRPr lang="en-US" sz="1800"/>
        </a:p>
      </dgm:t>
    </dgm:pt>
    <dgm:pt modelId="{F0D1C61C-E3F2-49BA-A2D8-C04A81308E5D}" type="sibTrans" cxnId="{CB32A309-9CA9-4554-941D-519A91A9E733}">
      <dgm:prSet/>
      <dgm:spPr/>
      <dgm:t>
        <a:bodyPr/>
        <a:lstStyle/>
        <a:p>
          <a:pPr marL="182880" algn="l"/>
          <a:endParaRPr lang="en-US" sz="1800"/>
        </a:p>
      </dgm:t>
    </dgm:pt>
    <dgm:pt modelId="{E201FBA7-5BD6-47E9-9F80-8967D9C39815}" type="pres">
      <dgm:prSet presAssocID="{A66480AC-C0DE-4E5E-9ECD-9AE37E3FCB79}" presName="linear" presStyleCnt="0">
        <dgm:presLayoutVars>
          <dgm:dir/>
          <dgm:resizeHandles val="exact"/>
        </dgm:presLayoutVars>
      </dgm:prSet>
      <dgm:spPr/>
    </dgm:pt>
    <dgm:pt modelId="{11700981-9418-422E-A942-8550B3E88068}" type="pres">
      <dgm:prSet presAssocID="{A8C03FBB-4A75-4460-AEA6-DEAEB9C61496}" presName="comp" presStyleCnt="0"/>
      <dgm:spPr/>
    </dgm:pt>
    <dgm:pt modelId="{EE474AD8-49FF-4B0F-BCCA-865F0A19D3A4}" type="pres">
      <dgm:prSet presAssocID="{A8C03FBB-4A75-4460-AEA6-DEAEB9C61496}" presName="box" presStyleLbl="node1" presStyleIdx="0" presStyleCnt="4"/>
      <dgm:spPr/>
    </dgm:pt>
    <dgm:pt modelId="{1DD2D934-3D7E-4F0F-B775-48EBC3C84A50}" type="pres">
      <dgm:prSet presAssocID="{A8C03FBB-4A75-4460-AEA6-DEAEB9C61496}" presName="img" presStyleLbl="fgImgPlace1" presStyleIdx="0" presStyleCnt="4"/>
      <dgm:spPr>
        <a:blipFill>
          <a:blip xmlns:r="http://schemas.openxmlformats.org/officeDocument/2006/relationships" r:embed="rId1"/>
          <a:srcRect/>
          <a:stretch>
            <a:fillRect t="-4000" b="-4000"/>
          </a:stretch>
        </a:blipFill>
      </dgm:spPr>
    </dgm:pt>
    <dgm:pt modelId="{5FBA1F4A-2817-4DA0-9374-B5AAB9E91509}" type="pres">
      <dgm:prSet presAssocID="{A8C03FBB-4A75-4460-AEA6-DEAEB9C61496}" presName="text" presStyleLbl="node1" presStyleIdx="0" presStyleCnt="4">
        <dgm:presLayoutVars>
          <dgm:bulletEnabled val="1"/>
        </dgm:presLayoutVars>
      </dgm:prSet>
      <dgm:spPr/>
    </dgm:pt>
    <dgm:pt modelId="{DC721721-7CA8-4C11-BA06-D34C434AB709}" type="pres">
      <dgm:prSet presAssocID="{67361508-930A-4A23-8CFC-BB56DA645C3C}" presName="spacer" presStyleCnt="0"/>
      <dgm:spPr/>
    </dgm:pt>
    <dgm:pt modelId="{723C1D35-8AA4-4DF2-9D47-37FF79B42315}" type="pres">
      <dgm:prSet presAssocID="{91969DED-4CB8-4A14-A50B-3F7B848E46B5}" presName="comp" presStyleCnt="0"/>
      <dgm:spPr/>
    </dgm:pt>
    <dgm:pt modelId="{CE5635DD-D119-4AA5-B28A-34922D81C24B}" type="pres">
      <dgm:prSet presAssocID="{91969DED-4CB8-4A14-A50B-3F7B848E46B5}" presName="box" presStyleLbl="node1" presStyleIdx="1" presStyleCnt="4"/>
      <dgm:spPr/>
    </dgm:pt>
    <dgm:pt modelId="{21F0F92F-6DDC-49BD-88C5-E8EBBBD51DAD}" type="pres">
      <dgm:prSet presAssocID="{91969DED-4CB8-4A14-A50B-3F7B848E46B5}" presName="img" presStyleLbl="fgImgPlace1" presStyleIdx="1" presStyleCnt="4"/>
      <dgm:spPr>
        <a:blipFill>
          <a:blip xmlns:r="http://schemas.openxmlformats.org/officeDocument/2006/relationships" r:embed="rId2"/>
          <a:srcRect/>
          <a:stretch>
            <a:fillRect t="-5000" b="-5000"/>
          </a:stretch>
        </a:blipFill>
      </dgm:spPr>
    </dgm:pt>
    <dgm:pt modelId="{05346790-952D-49AF-9B3A-5AC441C674D5}" type="pres">
      <dgm:prSet presAssocID="{91969DED-4CB8-4A14-A50B-3F7B848E46B5}" presName="text" presStyleLbl="node1" presStyleIdx="1" presStyleCnt="4">
        <dgm:presLayoutVars>
          <dgm:bulletEnabled val="1"/>
        </dgm:presLayoutVars>
      </dgm:prSet>
      <dgm:spPr/>
    </dgm:pt>
    <dgm:pt modelId="{9732FF6B-015B-4815-8F84-D36D6B9CA20F}" type="pres">
      <dgm:prSet presAssocID="{81CA8AA2-C0C3-4381-BA8B-413EDD578B83}" presName="spacer" presStyleCnt="0"/>
      <dgm:spPr/>
    </dgm:pt>
    <dgm:pt modelId="{F7EB6B55-13E7-45E5-9CE9-B697E996621E}" type="pres">
      <dgm:prSet presAssocID="{3CC73758-10C1-47F8-AFA7-1A986D4DDD60}" presName="comp" presStyleCnt="0"/>
      <dgm:spPr/>
    </dgm:pt>
    <dgm:pt modelId="{07D2D384-D31B-4DE7-AB22-0F2906CCA953}" type="pres">
      <dgm:prSet presAssocID="{3CC73758-10C1-47F8-AFA7-1A986D4DDD60}" presName="box" presStyleLbl="node1" presStyleIdx="2" presStyleCnt="4"/>
      <dgm:spPr/>
    </dgm:pt>
    <dgm:pt modelId="{BB177B60-739F-4070-8EFC-33146C1A5496}" type="pres">
      <dgm:prSet presAssocID="{3CC73758-10C1-47F8-AFA7-1A986D4DDD60}" presName="img" presStyleLbl="fgImgPlace1" presStyleIdx="2" presStyleCnt="4"/>
      <dgm:spPr>
        <a:blipFill>
          <a:blip xmlns:r="http://schemas.openxmlformats.org/officeDocument/2006/relationships" r:embed="rId3"/>
          <a:srcRect/>
          <a:stretch>
            <a:fillRect t="-5000" b="-5000"/>
          </a:stretch>
        </a:blipFill>
      </dgm:spPr>
    </dgm:pt>
    <dgm:pt modelId="{457D4F21-C288-46F9-985D-CBC147454713}" type="pres">
      <dgm:prSet presAssocID="{3CC73758-10C1-47F8-AFA7-1A986D4DDD60}" presName="text" presStyleLbl="node1" presStyleIdx="2" presStyleCnt="4">
        <dgm:presLayoutVars>
          <dgm:bulletEnabled val="1"/>
        </dgm:presLayoutVars>
      </dgm:prSet>
      <dgm:spPr/>
    </dgm:pt>
    <dgm:pt modelId="{17E54E1A-24A9-4BAC-BEE0-6DA22CCEB64E}" type="pres">
      <dgm:prSet presAssocID="{D8170BBA-6035-4773-8431-FEDD687647FF}" presName="spacer" presStyleCnt="0"/>
      <dgm:spPr/>
    </dgm:pt>
    <dgm:pt modelId="{7C23E3AA-A292-4355-BA06-E1C0C03719E1}" type="pres">
      <dgm:prSet presAssocID="{D2FE027B-4161-41E1-B4D4-02AECB2E3FA0}" presName="comp" presStyleCnt="0"/>
      <dgm:spPr/>
    </dgm:pt>
    <dgm:pt modelId="{46744611-8797-4049-AF72-D705D4F257C6}" type="pres">
      <dgm:prSet presAssocID="{D2FE027B-4161-41E1-B4D4-02AECB2E3FA0}" presName="box" presStyleLbl="node1" presStyleIdx="3" presStyleCnt="4"/>
      <dgm:spPr/>
    </dgm:pt>
    <dgm:pt modelId="{670411D1-436D-42ED-8630-3E2D3F8573CC}" type="pres">
      <dgm:prSet presAssocID="{D2FE027B-4161-41E1-B4D4-02AECB2E3FA0}" presName="img" presStyleLbl="fgImgPlace1" presStyleIdx="3" presStyleCnt="4"/>
      <dgm:spPr>
        <a:blipFill>
          <a:blip xmlns:r="http://schemas.openxmlformats.org/officeDocument/2006/relationships" r:embed="rId4"/>
          <a:srcRect/>
          <a:stretch>
            <a:fillRect t="-5000" b="-5000"/>
          </a:stretch>
        </a:blipFill>
      </dgm:spPr>
    </dgm:pt>
    <dgm:pt modelId="{0166276F-EF4B-4273-8C5F-2E23B4A0948F}" type="pres">
      <dgm:prSet presAssocID="{D2FE027B-4161-41E1-B4D4-02AECB2E3FA0}" presName="text" presStyleLbl="node1" presStyleIdx="3" presStyleCnt="4">
        <dgm:presLayoutVars>
          <dgm:bulletEnabled val="1"/>
        </dgm:presLayoutVars>
      </dgm:prSet>
      <dgm:spPr/>
    </dgm:pt>
  </dgm:ptLst>
  <dgm:cxnLst>
    <dgm:cxn modelId="{DD7C3A06-52F4-48E4-8419-BB3000255B0A}" type="presOf" srcId="{A8C03FBB-4A75-4460-AEA6-DEAEB9C61496}" destId="{EE474AD8-49FF-4B0F-BCCA-865F0A19D3A4}" srcOrd="0" destOrd="0" presId="urn:microsoft.com/office/officeart/2005/8/layout/vList4"/>
    <dgm:cxn modelId="{CB32A309-9CA9-4554-941D-519A91A9E733}" srcId="{D2FE027B-4161-41E1-B4D4-02AECB2E3FA0}" destId="{2BE415B7-7185-4956-8487-237B40BC0EE5}" srcOrd="0" destOrd="0" parTransId="{A38E847E-0D1D-4F40-9A71-4D5999ADE08B}" sibTransId="{F0D1C61C-E3F2-49BA-A2D8-C04A81308E5D}"/>
    <dgm:cxn modelId="{EB72660C-1F95-4FAD-90AF-C68F7B76C478}" type="presOf" srcId="{2BE415B7-7185-4956-8487-237B40BC0EE5}" destId="{0166276F-EF4B-4273-8C5F-2E23B4A0948F}" srcOrd="1" destOrd="1" presId="urn:microsoft.com/office/officeart/2005/8/layout/vList4"/>
    <dgm:cxn modelId="{F6195517-782A-466B-9ED4-815C374159B2}" type="presOf" srcId="{8A04F340-E8E1-4146-9905-E7ADCAEAABD7}" destId="{05346790-952D-49AF-9B3A-5AC441C674D5}" srcOrd="1" destOrd="1" presId="urn:microsoft.com/office/officeart/2005/8/layout/vList4"/>
    <dgm:cxn modelId="{03033629-33E1-4746-B0AE-AAF125C06849}" type="presOf" srcId="{2BE415B7-7185-4956-8487-237B40BC0EE5}" destId="{46744611-8797-4049-AF72-D705D4F257C6}" srcOrd="0" destOrd="1" presId="urn:microsoft.com/office/officeart/2005/8/layout/vList4"/>
    <dgm:cxn modelId="{C7BF852C-9566-4AA6-AA12-46DA4A5C0295}" type="presOf" srcId="{A66480AC-C0DE-4E5E-9ECD-9AE37E3FCB79}" destId="{E201FBA7-5BD6-47E9-9F80-8967D9C39815}" srcOrd="0" destOrd="0" presId="urn:microsoft.com/office/officeart/2005/8/layout/vList4"/>
    <dgm:cxn modelId="{6DD70230-C43F-4FAA-B590-AB7DC23E6DD1}" type="presOf" srcId="{3CC73758-10C1-47F8-AFA7-1A986D4DDD60}" destId="{07D2D384-D31B-4DE7-AB22-0F2906CCA953}" srcOrd="0" destOrd="0" presId="urn:microsoft.com/office/officeart/2005/8/layout/vList4"/>
    <dgm:cxn modelId="{5EDA943F-300F-408A-A52E-3D5140FD5C22}" srcId="{3CC73758-10C1-47F8-AFA7-1A986D4DDD60}" destId="{FD9CA14A-483C-4869-B0C1-7C5FB7EEDBCC}" srcOrd="0" destOrd="0" parTransId="{8182A92F-45BA-4CD1-8E43-0B0810A50FEB}" sibTransId="{914BB93C-EA8A-4B5B-8F06-30DA7C7F4B7B}"/>
    <dgm:cxn modelId="{269BC85C-7231-4CBD-AA34-918827143E7C}" type="presOf" srcId="{FD9CA14A-483C-4869-B0C1-7C5FB7EEDBCC}" destId="{07D2D384-D31B-4DE7-AB22-0F2906CCA953}" srcOrd="0" destOrd="1" presId="urn:microsoft.com/office/officeart/2005/8/layout/vList4"/>
    <dgm:cxn modelId="{4A69F85D-5C15-48FD-893A-B3050E1BADEB}" srcId="{A66480AC-C0DE-4E5E-9ECD-9AE37E3FCB79}" destId="{3CC73758-10C1-47F8-AFA7-1A986D4DDD60}" srcOrd="2" destOrd="0" parTransId="{FF6AE4B6-4A2F-49EE-9316-9AF55E77838B}" sibTransId="{D8170BBA-6035-4773-8431-FEDD687647FF}"/>
    <dgm:cxn modelId="{F51B8364-6B86-4479-84A8-9B6238F16A96}" type="presOf" srcId="{91969DED-4CB8-4A14-A50B-3F7B848E46B5}" destId="{CE5635DD-D119-4AA5-B28A-34922D81C24B}" srcOrd="0" destOrd="0" presId="urn:microsoft.com/office/officeart/2005/8/layout/vList4"/>
    <dgm:cxn modelId="{D3D81948-D963-4D1E-AE16-9705EAF510FC}" srcId="{A66480AC-C0DE-4E5E-9ECD-9AE37E3FCB79}" destId="{A8C03FBB-4A75-4460-AEA6-DEAEB9C61496}" srcOrd="0" destOrd="0" parTransId="{4E972F7F-4B1B-47AA-A25B-1FFC561F1C76}" sibTransId="{67361508-930A-4A23-8CFC-BB56DA645C3C}"/>
    <dgm:cxn modelId="{1B96D34A-12A8-4D77-9973-8D034BAD747D}" type="presOf" srcId="{8A04F340-E8E1-4146-9905-E7ADCAEAABD7}" destId="{CE5635DD-D119-4AA5-B28A-34922D81C24B}" srcOrd="0" destOrd="1" presId="urn:microsoft.com/office/officeart/2005/8/layout/vList4"/>
    <dgm:cxn modelId="{8601C36B-AB01-4697-92DF-33A7E7F2D822}" type="presOf" srcId="{FD9CA14A-483C-4869-B0C1-7C5FB7EEDBCC}" destId="{457D4F21-C288-46F9-985D-CBC147454713}" srcOrd="1" destOrd="1" presId="urn:microsoft.com/office/officeart/2005/8/layout/vList4"/>
    <dgm:cxn modelId="{8E16D47A-BAAF-4803-B816-3B90D837CAED}" type="presOf" srcId="{A8C03FBB-4A75-4460-AEA6-DEAEB9C61496}" destId="{5FBA1F4A-2817-4DA0-9374-B5AAB9E91509}" srcOrd="1" destOrd="0" presId="urn:microsoft.com/office/officeart/2005/8/layout/vList4"/>
    <dgm:cxn modelId="{951C7197-4021-4D8B-A8A4-B2718F92FA02}" type="presOf" srcId="{5E71F362-34DF-4EEC-92A3-0EFE450E05E4}" destId="{5FBA1F4A-2817-4DA0-9374-B5AAB9E91509}" srcOrd="1" destOrd="1" presId="urn:microsoft.com/office/officeart/2005/8/layout/vList4"/>
    <dgm:cxn modelId="{4F4F82A2-02F1-492B-96C1-46C070BEFCE3}" srcId="{A66480AC-C0DE-4E5E-9ECD-9AE37E3FCB79}" destId="{D2FE027B-4161-41E1-B4D4-02AECB2E3FA0}" srcOrd="3" destOrd="0" parTransId="{88680CFE-3CE0-4842-B3D3-716D3B671238}" sibTransId="{4D59E06B-629C-40B5-96D3-423B7A56C945}"/>
    <dgm:cxn modelId="{FBE6C3A5-B4E0-47F5-9B9A-F9DD5AF8295A}" type="presOf" srcId="{3CC73758-10C1-47F8-AFA7-1A986D4DDD60}" destId="{457D4F21-C288-46F9-985D-CBC147454713}" srcOrd="1" destOrd="0" presId="urn:microsoft.com/office/officeart/2005/8/layout/vList4"/>
    <dgm:cxn modelId="{F56164B4-11E5-48F5-B2F9-33073E70362A}" type="presOf" srcId="{91969DED-4CB8-4A14-A50B-3F7B848E46B5}" destId="{05346790-952D-49AF-9B3A-5AC441C674D5}" srcOrd="1" destOrd="0" presId="urn:microsoft.com/office/officeart/2005/8/layout/vList4"/>
    <dgm:cxn modelId="{B99CA6C9-28D1-4DDB-B8EC-AED73AD115CA}" srcId="{A8C03FBB-4A75-4460-AEA6-DEAEB9C61496}" destId="{5E71F362-34DF-4EEC-92A3-0EFE450E05E4}" srcOrd="0" destOrd="0" parTransId="{8E5EE4D1-908E-455C-B8B3-281AD42DEC9A}" sibTransId="{B208B24A-E9FD-40A9-B764-FB7C2B7ED8B9}"/>
    <dgm:cxn modelId="{DDCC89CE-4489-4F5E-B7F4-198C6547C208}" type="presOf" srcId="{D2FE027B-4161-41E1-B4D4-02AECB2E3FA0}" destId="{0166276F-EF4B-4273-8C5F-2E23B4A0948F}" srcOrd="1" destOrd="0" presId="urn:microsoft.com/office/officeart/2005/8/layout/vList4"/>
    <dgm:cxn modelId="{537F2ED0-8BD0-4AD5-B60D-89B660EDA1AC}" srcId="{A66480AC-C0DE-4E5E-9ECD-9AE37E3FCB79}" destId="{91969DED-4CB8-4A14-A50B-3F7B848E46B5}" srcOrd="1" destOrd="0" parTransId="{441CD73D-85E1-42A6-BCF8-362A3247E2F3}" sibTransId="{81CA8AA2-C0C3-4381-BA8B-413EDD578B83}"/>
    <dgm:cxn modelId="{2EA497D5-587C-4B05-B1B3-1B374167A1DE}" type="presOf" srcId="{D2FE027B-4161-41E1-B4D4-02AECB2E3FA0}" destId="{46744611-8797-4049-AF72-D705D4F257C6}" srcOrd="0" destOrd="0" presId="urn:microsoft.com/office/officeart/2005/8/layout/vList4"/>
    <dgm:cxn modelId="{0638B7F3-4AE9-402E-B11F-8765D49DC270}" type="presOf" srcId="{5E71F362-34DF-4EEC-92A3-0EFE450E05E4}" destId="{EE474AD8-49FF-4B0F-BCCA-865F0A19D3A4}" srcOrd="0" destOrd="1" presId="urn:microsoft.com/office/officeart/2005/8/layout/vList4"/>
    <dgm:cxn modelId="{E636BFFB-0404-4D4B-B3F0-C64FDFD9DDEF}" srcId="{91969DED-4CB8-4A14-A50B-3F7B848E46B5}" destId="{8A04F340-E8E1-4146-9905-E7ADCAEAABD7}" srcOrd="0" destOrd="0" parTransId="{4EBD5EC2-45ED-4ED6-8376-97D155A911AE}" sibTransId="{F9CD2A04-6A34-4104-A971-391788B88F55}"/>
    <dgm:cxn modelId="{24CA2BEA-8DDA-45E4-BF28-30ADF0F71E7C}" type="presParOf" srcId="{E201FBA7-5BD6-47E9-9F80-8967D9C39815}" destId="{11700981-9418-422E-A942-8550B3E88068}" srcOrd="0" destOrd="0" presId="urn:microsoft.com/office/officeart/2005/8/layout/vList4"/>
    <dgm:cxn modelId="{EEFAD805-A727-48ED-B998-38FB853A59C3}" type="presParOf" srcId="{11700981-9418-422E-A942-8550B3E88068}" destId="{EE474AD8-49FF-4B0F-BCCA-865F0A19D3A4}" srcOrd="0" destOrd="0" presId="urn:microsoft.com/office/officeart/2005/8/layout/vList4"/>
    <dgm:cxn modelId="{9ADF47F1-1D00-4687-A16C-67F55C0B73B3}" type="presParOf" srcId="{11700981-9418-422E-A942-8550B3E88068}" destId="{1DD2D934-3D7E-4F0F-B775-48EBC3C84A50}" srcOrd="1" destOrd="0" presId="urn:microsoft.com/office/officeart/2005/8/layout/vList4"/>
    <dgm:cxn modelId="{73AA1A72-16D5-40B1-84A8-378EEEAB6A52}" type="presParOf" srcId="{11700981-9418-422E-A942-8550B3E88068}" destId="{5FBA1F4A-2817-4DA0-9374-B5AAB9E91509}" srcOrd="2" destOrd="0" presId="urn:microsoft.com/office/officeart/2005/8/layout/vList4"/>
    <dgm:cxn modelId="{3E942E7D-31B2-4318-BE02-E9C5C60D1687}" type="presParOf" srcId="{E201FBA7-5BD6-47E9-9F80-8967D9C39815}" destId="{DC721721-7CA8-4C11-BA06-D34C434AB709}" srcOrd="1" destOrd="0" presId="urn:microsoft.com/office/officeart/2005/8/layout/vList4"/>
    <dgm:cxn modelId="{7B9B3B3C-40BF-44C4-8035-F51AFC89B0F1}" type="presParOf" srcId="{E201FBA7-5BD6-47E9-9F80-8967D9C39815}" destId="{723C1D35-8AA4-4DF2-9D47-37FF79B42315}" srcOrd="2" destOrd="0" presId="urn:microsoft.com/office/officeart/2005/8/layout/vList4"/>
    <dgm:cxn modelId="{FF947ED9-732F-432C-A2DF-AA9C9BAE147D}" type="presParOf" srcId="{723C1D35-8AA4-4DF2-9D47-37FF79B42315}" destId="{CE5635DD-D119-4AA5-B28A-34922D81C24B}" srcOrd="0" destOrd="0" presId="urn:microsoft.com/office/officeart/2005/8/layout/vList4"/>
    <dgm:cxn modelId="{7FCD4895-3C9E-4EF5-8F0D-375B458D9F59}" type="presParOf" srcId="{723C1D35-8AA4-4DF2-9D47-37FF79B42315}" destId="{21F0F92F-6DDC-49BD-88C5-E8EBBBD51DAD}" srcOrd="1" destOrd="0" presId="urn:microsoft.com/office/officeart/2005/8/layout/vList4"/>
    <dgm:cxn modelId="{D8447A68-E28E-47E1-842B-2915FF836722}" type="presParOf" srcId="{723C1D35-8AA4-4DF2-9D47-37FF79B42315}" destId="{05346790-952D-49AF-9B3A-5AC441C674D5}" srcOrd="2" destOrd="0" presId="urn:microsoft.com/office/officeart/2005/8/layout/vList4"/>
    <dgm:cxn modelId="{6821336A-CAA3-4897-8A43-2A8CB0401F67}" type="presParOf" srcId="{E201FBA7-5BD6-47E9-9F80-8967D9C39815}" destId="{9732FF6B-015B-4815-8F84-D36D6B9CA20F}" srcOrd="3" destOrd="0" presId="urn:microsoft.com/office/officeart/2005/8/layout/vList4"/>
    <dgm:cxn modelId="{C49519F5-B6C9-4B78-A9BE-04F5F43751DE}" type="presParOf" srcId="{E201FBA7-5BD6-47E9-9F80-8967D9C39815}" destId="{F7EB6B55-13E7-45E5-9CE9-B697E996621E}" srcOrd="4" destOrd="0" presId="urn:microsoft.com/office/officeart/2005/8/layout/vList4"/>
    <dgm:cxn modelId="{52DD83DF-5466-432C-A3A5-F08E6A66EB49}" type="presParOf" srcId="{F7EB6B55-13E7-45E5-9CE9-B697E996621E}" destId="{07D2D384-D31B-4DE7-AB22-0F2906CCA953}" srcOrd="0" destOrd="0" presId="urn:microsoft.com/office/officeart/2005/8/layout/vList4"/>
    <dgm:cxn modelId="{33DF0B92-7717-4141-8BF6-14630F772C97}" type="presParOf" srcId="{F7EB6B55-13E7-45E5-9CE9-B697E996621E}" destId="{BB177B60-739F-4070-8EFC-33146C1A5496}" srcOrd="1" destOrd="0" presId="urn:microsoft.com/office/officeart/2005/8/layout/vList4"/>
    <dgm:cxn modelId="{0A8BA9E8-D139-465F-AC26-A4E316E06EAB}" type="presParOf" srcId="{F7EB6B55-13E7-45E5-9CE9-B697E996621E}" destId="{457D4F21-C288-46F9-985D-CBC147454713}" srcOrd="2" destOrd="0" presId="urn:microsoft.com/office/officeart/2005/8/layout/vList4"/>
    <dgm:cxn modelId="{D0AAE905-7B8D-4E19-A8EA-1FBEFF861C28}" type="presParOf" srcId="{E201FBA7-5BD6-47E9-9F80-8967D9C39815}" destId="{17E54E1A-24A9-4BAC-BEE0-6DA22CCEB64E}" srcOrd="5" destOrd="0" presId="urn:microsoft.com/office/officeart/2005/8/layout/vList4"/>
    <dgm:cxn modelId="{C274CA92-57D8-4D54-A870-57B2C2C790D5}" type="presParOf" srcId="{E201FBA7-5BD6-47E9-9F80-8967D9C39815}" destId="{7C23E3AA-A292-4355-BA06-E1C0C03719E1}" srcOrd="6" destOrd="0" presId="urn:microsoft.com/office/officeart/2005/8/layout/vList4"/>
    <dgm:cxn modelId="{673DA00E-49AF-4635-B213-8E928166C0F2}" type="presParOf" srcId="{7C23E3AA-A292-4355-BA06-E1C0C03719E1}" destId="{46744611-8797-4049-AF72-D705D4F257C6}" srcOrd="0" destOrd="0" presId="urn:microsoft.com/office/officeart/2005/8/layout/vList4"/>
    <dgm:cxn modelId="{2D6E1B38-BE7D-4C97-882E-B8FEC3193770}" type="presParOf" srcId="{7C23E3AA-A292-4355-BA06-E1C0C03719E1}" destId="{670411D1-436D-42ED-8630-3E2D3F8573CC}" srcOrd="1" destOrd="0" presId="urn:microsoft.com/office/officeart/2005/8/layout/vList4"/>
    <dgm:cxn modelId="{4D24D510-F2C1-46E4-9AA0-640B2A4346B9}" type="presParOf" srcId="{7C23E3AA-A292-4355-BA06-E1C0C03719E1}" destId="{0166276F-EF4B-4273-8C5F-2E23B4A0948F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474AD8-49FF-4B0F-BCCA-865F0A19D3A4}">
      <dsp:nvSpPr>
        <dsp:cNvPr id="0" name=""/>
        <dsp:cNvSpPr/>
      </dsp:nvSpPr>
      <dsp:spPr>
        <a:xfrm>
          <a:off x="0" y="0"/>
          <a:ext cx="4892675" cy="8095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182880" lvl="0" indent="0" algn="l" defTabSz="8001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1800" b="1" kern="1200" dirty="0"/>
            <a:t>Q3</a:t>
          </a:r>
        </a:p>
        <a:p>
          <a:pPr marL="365760" lvl="1" indent="-171450" algn="l" defTabSz="8001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1800" kern="1200" dirty="0"/>
            <a:t>Market research</a:t>
          </a:r>
        </a:p>
      </dsp:txBody>
      <dsp:txXfrm>
        <a:off x="1059486" y="0"/>
        <a:ext cx="3833188" cy="809519"/>
      </dsp:txXfrm>
    </dsp:sp>
    <dsp:sp modelId="{1DD2D934-3D7E-4F0F-B775-48EBC3C84A50}">
      <dsp:nvSpPr>
        <dsp:cNvPr id="0" name=""/>
        <dsp:cNvSpPr/>
      </dsp:nvSpPr>
      <dsp:spPr>
        <a:xfrm>
          <a:off x="80951" y="80951"/>
          <a:ext cx="978535" cy="64761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4000" b="-4000"/>
          </a:stretch>
        </a:blipFill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5635DD-D119-4AA5-B28A-34922D81C24B}">
      <dsp:nvSpPr>
        <dsp:cNvPr id="0" name=""/>
        <dsp:cNvSpPr/>
      </dsp:nvSpPr>
      <dsp:spPr>
        <a:xfrm>
          <a:off x="0" y="890471"/>
          <a:ext cx="4892675" cy="8095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182880" lvl="0" indent="0" algn="l" defTabSz="8001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1800" b="1" kern="1200" dirty="0"/>
            <a:t>Q4</a:t>
          </a:r>
        </a:p>
        <a:p>
          <a:pPr marL="365760" lvl="1" indent="-171450" algn="l" defTabSz="8001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1800" kern="1200" dirty="0"/>
            <a:t>Product development</a:t>
          </a:r>
        </a:p>
      </dsp:txBody>
      <dsp:txXfrm>
        <a:off x="1059486" y="890471"/>
        <a:ext cx="3833188" cy="809519"/>
      </dsp:txXfrm>
    </dsp:sp>
    <dsp:sp modelId="{21F0F92F-6DDC-49BD-88C5-E8EBBBD51DAD}">
      <dsp:nvSpPr>
        <dsp:cNvPr id="0" name=""/>
        <dsp:cNvSpPr/>
      </dsp:nvSpPr>
      <dsp:spPr>
        <a:xfrm>
          <a:off x="80951" y="971423"/>
          <a:ext cx="978535" cy="64761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5000" b="-5000"/>
          </a:stretch>
        </a:blipFill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D2D384-D31B-4DE7-AB22-0F2906CCA953}">
      <dsp:nvSpPr>
        <dsp:cNvPr id="0" name=""/>
        <dsp:cNvSpPr/>
      </dsp:nvSpPr>
      <dsp:spPr>
        <a:xfrm>
          <a:off x="0" y="1780943"/>
          <a:ext cx="4892675" cy="8095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182880" lvl="0" indent="0" algn="l" defTabSz="8001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1800" b="1" kern="1200" dirty="0"/>
            <a:t>Q1</a:t>
          </a:r>
        </a:p>
        <a:p>
          <a:pPr marL="365760" lvl="1" indent="-171450" algn="l" defTabSz="8001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1800" kern="1200" dirty="0"/>
            <a:t>User testing</a:t>
          </a:r>
        </a:p>
      </dsp:txBody>
      <dsp:txXfrm>
        <a:off x="1059486" y="1780943"/>
        <a:ext cx="3833188" cy="809519"/>
      </dsp:txXfrm>
    </dsp:sp>
    <dsp:sp modelId="{BB177B60-739F-4070-8EFC-33146C1A5496}">
      <dsp:nvSpPr>
        <dsp:cNvPr id="0" name=""/>
        <dsp:cNvSpPr/>
      </dsp:nvSpPr>
      <dsp:spPr>
        <a:xfrm>
          <a:off x="80951" y="1861895"/>
          <a:ext cx="978535" cy="64761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5000" b="-5000"/>
          </a:stretch>
        </a:blipFill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6744611-8797-4049-AF72-D705D4F257C6}">
      <dsp:nvSpPr>
        <dsp:cNvPr id="0" name=""/>
        <dsp:cNvSpPr/>
      </dsp:nvSpPr>
      <dsp:spPr>
        <a:xfrm>
          <a:off x="0" y="2671414"/>
          <a:ext cx="4892675" cy="8095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182880" lvl="0" indent="0" algn="l" defTabSz="8001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1800" b="1" kern="1200" dirty="0"/>
            <a:t>Q2</a:t>
          </a:r>
        </a:p>
        <a:p>
          <a:pPr marL="365760" lvl="1" indent="-171450" algn="l" defTabSz="8001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1800" kern="1200" dirty="0"/>
            <a:t>Product launch</a:t>
          </a:r>
        </a:p>
      </dsp:txBody>
      <dsp:txXfrm>
        <a:off x="1059486" y="2671414"/>
        <a:ext cx="3833188" cy="809519"/>
      </dsp:txXfrm>
    </dsp:sp>
    <dsp:sp modelId="{670411D1-436D-42ED-8630-3E2D3F8573CC}">
      <dsp:nvSpPr>
        <dsp:cNvPr id="0" name=""/>
        <dsp:cNvSpPr/>
      </dsp:nvSpPr>
      <dsp:spPr>
        <a:xfrm>
          <a:off x="80951" y="2752366"/>
          <a:ext cx="978535" cy="64761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t="-5000" b="-5000"/>
          </a:stretch>
        </a:blipFill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2890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4389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03241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61440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53268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593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56832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9867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54654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77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1599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09731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BF63F-D7E1-5B66-A35A-A15AAFD7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19C04-03E9-10F0-993D-805BD0F73F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7141E-8F94-3EF2-97B0-4EDE44796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BC62F-0F69-C176-1A65-4749B6E6B4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04497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D4C02-A582-1101-521E-880A77E74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D5B78F-1EF8-AFC5-1438-ABB8F60790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468880-7E3F-581B-B9B4-2A3ADF324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F9BDEE-DD6F-3E49-AEC6-EA2CCD79C9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603C52C-5E29-41AF-BAA3-8217E886DA0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04428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24428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44797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76465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8604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97202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EE861-5327-EC73-B29D-94CA9E29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29D56-0D1D-ED1F-E1D9-864D8E4A7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27EF0-4DD0-A10B-4B7E-D4529A9024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482169-35C1-5EC1-B3D1-69299315C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21872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8088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9729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7338364-7188-7365-443B-521B01784058}"/>
              </a:ext>
            </a:extLst>
          </p:cNvPr>
          <p:cNvSpPr/>
          <p:nvPr userDrawn="1"/>
        </p:nvSpPr>
        <p:spPr>
          <a:xfrm>
            <a:off x="-94593" y="-252248"/>
            <a:ext cx="9238593" cy="740191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3D69E3-FFC8-340B-E0C7-BAB5168FEF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-27591"/>
            <a:ext cx="12249807" cy="692894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4594" y="134006"/>
            <a:ext cx="8939048" cy="6605753"/>
          </a:xfrm>
        </p:spPr>
        <p:txBody>
          <a:bodyPr tIns="91440" anchor="ctr">
            <a:noAutofit/>
          </a:bodyPr>
          <a:lstStyle>
            <a:lvl1pPr algn="ctr">
              <a:defRPr sz="720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title</a:t>
            </a:r>
          </a:p>
        </p:txBody>
      </p:sp>
    </p:spTree>
    <p:extLst>
      <p:ext uri="{BB962C8B-B14F-4D97-AF65-F5344CB8AC3E}">
        <p14:creationId xmlns:p14="http://schemas.microsoft.com/office/powerpoint/2010/main" val="15373985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genda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411DD4-DAC6-3F0A-375C-8734155CED7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208" y="4054"/>
            <a:ext cx="12177584" cy="684989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1816" y="451406"/>
            <a:ext cx="5943600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001211" y="1182614"/>
            <a:ext cx="4832430" cy="822960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8605066B-CAE4-A78C-2A64-12177259717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001213" y="2372810"/>
            <a:ext cx="4832428" cy="3819646"/>
          </a:xfrm>
        </p:spPr>
        <p:txBody>
          <a:bodyPr tIns="182880">
            <a:normAutofit/>
          </a:bodyPr>
          <a:lstStyle>
            <a:lvl1pPr marL="0" indent="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None/>
              <a:defRPr sz="1800">
                <a:solidFill>
                  <a:schemeClr val="accent6">
                    <a:lumMod val="50000"/>
                  </a:schemeClr>
                </a:solidFill>
              </a:defRPr>
            </a:lvl1pPr>
            <a:lvl2pPr marL="0" indent="0" algn="ctr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2pPr>
            <a:lvl3pPr marL="0" indent="0" algn="ctr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lnSpc>
                <a:spcPct val="100000"/>
              </a:lnSpc>
              <a:buNone/>
              <a:defRPr sz="1400">
                <a:solidFill>
                  <a:schemeClr val="bg1"/>
                </a:solidFill>
              </a:defRPr>
            </a:lvl4pPr>
            <a:lvl5pPr marL="0" indent="0" algn="ctr">
              <a:lnSpc>
                <a:spcPct val="100000"/>
              </a:lnSpc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6377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Title 1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D46A0E-C4E1-C08D-1AFA-FC41F2BDC2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741" y="1542"/>
            <a:ext cx="12186518" cy="685491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5300" y="612648"/>
            <a:ext cx="11201400" cy="3566160"/>
          </a:xfrm>
        </p:spPr>
        <p:txBody>
          <a:bodyPr bIns="0" anchor="b">
            <a:noAutofit/>
          </a:bodyPr>
          <a:lstStyle>
            <a:lvl1pPr algn="ctr">
              <a:defRPr sz="72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750088" y="4688450"/>
            <a:ext cx="4832431" cy="941832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 anchorCtr="0">
            <a:noAutofit/>
          </a:bodyPr>
          <a:lstStyle>
            <a:lvl1pPr marL="0" indent="0" algn="ctr">
              <a:buNone/>
              <a:defRPr sz="1800" b="1" cap="all" baseline="0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2213996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ntroduction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7D07426-496A-EEDB-DB53-15DA6D95375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145" y="2894"/>
            <a:ext cx="12181710" cy="685221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581154" y="451406"/>
            <a:ext cx="9142110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81516" y="1193716"/>
            <a:ext cx="7964903" cy="738784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9921446-DF3F-3352-E38A-4ADECA56C50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165475" y="2556387"/>
            <a:ext cx="8237726" cy="351421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None/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  <a:lvl2pPr marL="283464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solidFill>
                  <a:schemeClr val="accent6">
                    <a:lumMod val="50000"/>
                  </a:schemeClr>
                </a:solidFill>
              </a:defRPr>
            </a:lvl2pPr>
            <a:lvl3pPr marL="12001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solidFill>
                  <a:schemeClr val="accent6">
                    <a:lumMod val="50000"/>
                  </a:schemeClr>
                </a:solidFill>
              </a:defRPr>
            </a:lvl3pPr>
            <a:lvl4pPr marL="16573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solidFill>
                  <a:schemeClr val="accent6">
                    <a:lumMod val="50000"/>
                  </a:schemeClr>
                </a:solidFill>
              </a:defRPr>
            </a:lvl4pPr>
            <a:lvl5pPr marL="21145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solidFill>
                  <a:schemeClr val="accent6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16160" y="5821679"/>
            <a:ext cx="1948858" cy="129700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1676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8BB1BAA-0BBA-094D-36BB-52209C5744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3775" y="-7257"/>
            <a:ext cx="12169463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800280" y="532435"/>
            <a:ext cx="5924874" cy="58683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106E5D-F0FF-0F55-C4FF-7DD177C58C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20654" y="960120"/>
            <a:ext cx="4621593" cy="3145536"/>
          </a:xfrm>
        </p:spPr>
        <p:txBody>
          <a:bodyPr/>
          <a:lstStyle>
            <a:lvl1pPr algn="ctr">
              <a:defRPr sz="54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66AF09F6-0A31-C3AA-DF3A-7E062458EA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20654" y="4768520"/>
            <a:ext cx="4621593" cy="729206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 anchorCtr="0">
            <a:noAutofit/>
          </a:bodyPr>
          <a:lstStyle>
            <a:lvl1pPr marL="0" indent="0" algn="ctr">
              <a:buNone/>
              <a:defRPr sz="1800" b="1" cap="all" baseline="0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9E30A96-253C-806E-DA56-9C892971C17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91499" y="-8626"/>
            <a:ext cx="4227271" cy="6889750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95840" y="5803095"/>
            <a:ext cx="1969178" cy="13155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02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lumns 1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>
            <a:extLst>
              <a:ext uri="{FF2B5EF4-FFF2-40B4-BE49-F238E27FC236}">
                <a16:creationId xmlns:a16="http://schemas.microsoft.com/office/drawing/2014/main" id="{81E90A88-865C-F9ED-C2BB-25421BBEA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auto">
          <a:xfrm>
            <a:off x="0" y="-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7057" y="451406"/>
            <a:ext cx="11246207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80789" y="1115060"/>
            <a:ext cx="10149840" cy="914400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BA3B1C17-899D-2FE2-0B01-60643853FB4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78721" y="2301069"/>
            <a:ext cx="4892675" cy="3482792"/>
          </a:xfrm>
        </p:spPr>
        <p:txBody>
          <a:bodyPr>
            <a:normAutofit/>
          </a:bodyPr>
          <a:lstStyle>
            <a:lvl1pPr marL="283464" indent="-283464">
              <a:defRPr sz="1800"/>
            </a:lvl1pPr>
            <a:lvl2pPr indent="-283464">
              <a:defRPr sz="1600"/>
            </a:lvl2pPr>
            <a:lvl3pPr indent="-283464">
              <a:defRPr sz="1400"/>
            </a:lvl3pPr>
            <a:lvl4pPr indent="-283464">
              <a:defRPr sz="1200"/>
            </a:lvl4pPr>
            <a:lvl5pPr indent="-283464"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1C79FDB-6789-ED7D-E246-96F9F6DC068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7288" y="2301069"/>
            <a:ext cx="4892675" cy="3482792"/>
          </a:xfrm>
        </p:spPr>
        <p:txBody>
          <a:bodyPr>
            <a:normAutofit/>
          </a:bodyPr>
          <a:lstStyle>
            <a:lvl1pPr marL="283464"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lvl1pPr>
            <a:lvl2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600"/>
            </a:lvl2pPr>
            <a:lvl3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400"/>
            </a:lvl3pPr>
            <a:lvl4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200"/>
            </a:lvl4pPr>
            <a:lvl5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19360" y="5750559"/>
            <a:ext cx="1745658" cy="136812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8603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 and Content 1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728253-E3DA-6D81-345D-04C29F7193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145" y="2894"/>
            <a:ext cx="12181710" cy="685221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581154" y="451406"/>
            <a:ext cx="9142110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81516" y="1193716"/>
            <a:ext cx="7964903" cy="738784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696E5A-37E4-7844-655B-462912CE36C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123" y="-899"/>
            <a:ext cx="1657350" cy="6858000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58E6485-C17B-2771-87BA-0398E09E183C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165475" y="2555875"/>
            <a:ext cx="8237538" cy="362063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 sz="1600"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 sz="1400"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 sz="1200"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 sz="1200">
                <a:solidFill>
                  <a:schemeClr val="accent6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16160" y="5821679"/>
            <a:ext cx="1948858" cy="129700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9061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lumns 2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EE5B0F-FC85-2832-52DD-74B32C94F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2700" y="0"/>
            <a:ext cx="12166599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61439" y="451406"/>
            <a:ext cx="10354906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809997" y="1100989"/>
            <a:ext cx="9464150" cy="921683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 anchorCtr="0">
            <a:noAutofit/>
          </a:bodyPr>
          <a:lstStyle>
            <a:lvl1pPr algn="ctr">
              <a:defRPr sz="1800" b="1" cap="all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4D558C2-5388-26DA-C2BE-AC226426CD2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796158" y="2286688"/>
            <a:ext cx="4160699" cy="4003675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600"/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400"/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200"/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32D1E30A-3770-4825-553A-18C9DD79385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13448" y="2286688"/>
            <a:ext cx="4160699" cy="4003675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600"/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400"/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200"/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22710" y="5811519"/>
            <a:ext cx="1742307" cy="130716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83488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 and Content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7A6BBBB3-641A-CFC0-516F-63B74C40F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auto">
          <a:xfrm>
            <a:off x="0" y="-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7057" y="451406"/>
            <a:ext cx="11246207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80789" y="1115060"/>
            <a:ext cx="10149840" cy="914400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A4C64D22-E188-73F4-E0FE-F09DDC5CB305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979488" y="2311400"/>
            <a:ext cx="7091362" cy="3471863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1C79FDB-6789-ED7D-E246-96F9F6DC068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445190" y="2301069"/>
            <a:ext cx="2684773" cy="3482792"/>
          </a:xfrm>
        </p:spPr>
        <p:txBody>
          <a:bodyPr>
            <a:normAutofit/>
          </a:bodyPr>
          <a:lstStyle>
            <a:lvl1pPr marL="283464"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lvl1pPr>
            <a:lvl2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600"/>
            </a:lvl2pPr>
            <a:lvl3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400"/>
            </a:lvl3pPr>
            <a:lvl4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200"/>
            </a:lvl4pPr>
            <a:lvl5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19360" y="5882640"/>
            <a:ext cx="1745658" cy="1236042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5287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 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43F6EF2A-D737-1D2B-9BD8-C4AFD0408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auto">
          <a:xfrm>
            <a:off x="0" y="-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7057" y="451406"/>
            <a:ext cx="11246207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80789" y="1115060"/>
            <a:ext cx="10149840" cy="914400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A4C64D22-E188-73F4-E0FE-F09DDC5CB305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979488" y="2311400"/>
            <a:ext cx="10149840" cy="34718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19360" y="5882640"/>
            <a:ext cx="1745658" cy="1236042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34959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Title 2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807E53-1889-5FED-84AB-36B4B655BF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741" y="1542"/>
            <a:ext cx="12186518" cy="685491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060090" y="1"/>
            <a:ext cx="7626710" cy="6857046"/>
          </a:xfrm>
        </p:spPr>
        <p:txBody>
          <a:bodyPr bIns="0" anchor="ctr">
            <a:noAutofit/>
          </a:bodyPr>
          <a:lstStyle>
            <a:lvl1pPr algn="l">
              <a:defRPr sz="720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64A964A-4098-65AF-D012-2925365FB96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510588" y="-953"/>
            <a:ext cx="3200400" cy="6858000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61203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lumns 3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5DC7EA-10AE-1A0E-D197-CAB9FBAC93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5389" y="0"/>
            <a:ext cx="12166599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35B76D1-7BAB-95CC-D082-E5857BA27A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061" y="451406"/>
            <a:ext cx="9142110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352415-529E-A5FD-DC37-5D14118B5B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4423" y="1193716"/>
            <a:ext cx="7964903" cy="738784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EF759D5-1499-DEC7-BEAE-9ADBC4D3525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046163" y="2304733"/>
            <a:ext cx="2713037" cy="3760787"/>
          </a:xfrm>
        </p:spPr>
        <p:txBody>
          <a:bodyPr>
            <a:normAutofit/>
          </a:bodyPr>
          <a:lstStyle>
            <a:lvl1pPr marL="283464"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 b="1"/>
            </a:lvl1pPr>
            <a:lvl2pPr marL="502920"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 b="1"/>
            </a:lvl2pPr>
            <a:lvl3pPr marL="685800"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 b="1"/>
            </a:lvl3pPr>
            <a:lvl4pPr marL="868680"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 b="1"/>
            </a:lvl4pPr>
            <a:lvl5pPr marL="1051560"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 b="1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4152CA30-831A-8375-BB30-3BC996DB9AE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066468" y="2304733"/>
            <a:ext cx="4972858" cy="3760788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sz="1800" b="0"/>
            </a:lvl1pPr>
            <a:lvl2pPr marL="745236" indent="-347472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sz="1800" b="0"/>
            </a:lvl2pPr>
            <a:lvl3pPr marL="1202436" indent="-347472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sz="1800" b="0"/>
            </a:lvl3pPr>
            <a:lvl4pPr marL="1659636" indent="-347472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sz="1800" b="0"/>
            </a:lvl4pPr>
            <a:lvl5pPr marL="2116836" indent="-347472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sz="18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5362880-674E-FD38-9934-5A4AAEB492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16160" y="5821679"/>
            <a:ext cx="1948858" cy="129700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3277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E556C0-01A0-755F-2117-1A2AE6158E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6470"/>
            <a:ext cx="12192000" cy="684505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919" y="70439"/>
            <a:ext cx="12178162" cy="3533581"/>
          </a:xfrm>
        </p:spPr>
        <p:txBody>
          <a:bodyPr anchor="b">
            <a:noAutofit/>
          </a:bodyPr>
          <a:lstStyle>
            <a:lvl1pPr algn="ctr">
              <a:defRPr sz="72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7512F2E-49BF-E18A-D886-72AEA30E1D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11879" y="3645514"/>
            <a:ext cx="8009681" cy="731838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rmAutofit/>
          </a:bodyPr>
          <a:lstStyle>
            <a:lvl1pPr marL="0" indent="0" algn="ctr">
              <a:buNone/>
              <a:defRPr sz="1800" b="1" cap="all" baseline="0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>
              <a:buNone/>
              <a:defRPr cap="all" baseline="0"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>
              <a:buNone/>
              <a:defRPr cap="all" baseline="0"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>
              <a:buNone/>
              <a:defRPr cap="all" baseline="0"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>
              <a:buNone/>
              <a:defRPr cap="all" baseline="0">
                <a:solidFill>
                  <a:schemeClr val="accent6">
                    <a:lumMod val="50000"/>
                  </a:schemeClr>
                </a:solidFill>
              </a:defRPr>
            </a:lvl5pPr>
          </a:lstStyle>
          <a:p>
            <a:r>
              <a:rPr lang="en-US" dirty="0"/>
              <a:t>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9AB62AB-B562-C5FF-87CB-C3F72C70AE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9750" y="4826000"/>
            <a:ext cx="4001770" cy="590174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DF0E5B37-CF3B-656F-77B2-E3393E9576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77560" y="4826000"/>
            <a:ext cx="4001770" cy="590174"/>
          </a:xfrm>
        </p:spPr>
        <p:txBody>
          <a:bodyPr>
            <a:normAutofit/>
          </a:bodyPr>
          <a:lstStyle>
            <a:lvl1pPr marL="0" indent="0" algn="r">
              <a:buNone/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702563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9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32.png"/><Relationship Id="rId5" Type="http://schemas.microsoft.com/office/2007/relationships/hdphoto" Target="../media/hdphoto2.wdp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5A2CF-24E2-0E65-34F9-445819177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D0877-78BC-A7C4-9E91-2AA3A0318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62507-DD8A-6BF2-FDC6-93D95D27EB0B}"/>
              </a:ext>
            </a:extLst>
          </p:cNvPr>
          <p:cNvSpPr txBox="1"/>
          <p:nvPr/>
        </p:nvSpPr>
        <p:spPr>
          <a:xfrm>
            <a:off x="205740" y="1874520"/>
            <a:ext cx="1008126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 just finished one of the most popular Python courses online, and honestly, would struggle to recommend it</a:t>
            </a:r>
          </a:p>
          <a:p>
            <a:r>
              <a:rPr lang="en-GB" dirty="0"/>
              <a:t>Hi there, I am Elliot and I am completing and ranking every single beginners python course on the internet</a:t>
            </a:r>
          </a:p>
          <a:p>
            <a:r>
              <a:rPr lang="en-GB" dirty="0"/>
              <a:t>I think </a:t>
            </a:r>
            <a:r>
              <a:rPr lang="en-GB" dirty="0" err="1"/>
              <a:t>Codecademy</a:t>
            </a:r>
            <a:r>
              <a:rPr lang="en-GB" dirty="0"/>
              <a:t> has almost been a victim of their own success here, I was expecting so much more but I came away relatively disappointed actually. In this video I’ll be covering the following, and these will all be timestamped in the description below. Lets get into it: </a:t>
            </a:r>
          </a:p>
          <a:p>
            <a:r>
              <a:rPr lang="en-GB" b="1" dirty="0"/>
              <a:t>What is it </a:t>
            </a:r>
            <a:r>
              <a:rPr lang="en-GB" dirty="0"/>
              <a:t>– It’s a freemium one stop shop for basically upskilling in any language</a:t>
            </a:r>
          </a:p>
          <a:p>
            <a:r>
              <a:rPr lang="en-GB" b="1" dirty="0"/>
              <a:t>My ranking </a:t>
            </a:r>
            <a:r>
              <a:rPr lang="en-GB" dirty="0"/>
              <a:t>– and the reasons why (Python 2! Restrictive editor, complete randomness of lessons, no real big picture/context for the lessons)</a:t>
            </a:r>
          </a:p>
          <a:p>
            <a:r>
              <a:rPr lang="en-GB" b="1" dirty="0"/>
              <a:t>The best bit &amp; je ne seis quoi – </a:t>
            </a:r>
            <a:r>
              <a:rPr lang="en-GB" dirty="0"/>
              <a:t>I’d be forcing it if I said there was anything standout great about this course</a:t>
            </a:r>
          </a:p>
          <a:p>
            <a:r>
              <a:rPr lang="en-GB" b="1" dirty="0"/>
              <a:t>The redemption arc – Could it be for you? </a:t>
            </a:r>
            <a:r>
              <a:rPr lang="en-GB" dirty="0"/>
              <a:t>I’ve given them no credit for all the extras, but I’m not doing a website ranking list, I’m doing a python ranking list. I have a feeling this is for businesses with training budget. Because it’s so comprehensive it’s a great platform for a student or employee to learn, and have progress tracked and clearly show it to a manager or whatever.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727554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3CBAF329-FDB6-BBD5-5B2A-62E577D5953B}"/>
              </a:ext>
            </a:extLst>
          </p:cNvPr>
          <p:cNvSpPr txBox="1">
            <a:spLocks/>
          </p:cNvSpPr>
          <p:nvPr/>
        </p:nvSpPr>
        <p:spPr>
          <a:xfrm>
            <a:off x="10032544" y="6434223"/>
            <a:ext cx="2248793" cy="423777"/>
          </a:xfrm>
          <a:prstGeom prst="rect">
            <a:avLst/>
          </a:prstGeom>
        </p:spPr>
        <p:txBody>
          <a:bodyPr rtlCol="0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000" dirty="0">
                <a:solidFill>
                  <a:schemeClr val="bg1">
                    <a:alpha val="53000"/>
                  </a:schemeClr>
                </a:solidFill>
              </a:rPr>
              <a:t>Elliot Cooke</a:t>
            </a:r>
          </a:p>
          <a:p>
            <a:endParaRPr lang="en-GB" dirty="0">
              <a:solidFill>
                <a:schemeClr val="bg1">
                  <a:alpha val="53000"/>
                </a:schemeClr>
              </a:solidFill>
            </a:endParaRPr>
          </a:p>
        </p:txBody>
      </p:sp>
      <p:pic>
        <p:nvPicPr>
          <p:cNvPr id="5" name="Picture 8">
            <a:extLst>
              <a:ext uri="{FF2B5EF4-FFF2-40B4-BE49-F238E27FC236}">
                <a16:creationId xmlns:a16="http://schemas.microsoft.com/office/drawing/2014/main" id="{20E17707-C06B-E1C6-0B0E-18D8CA11E5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245" y="650254"/>
            <a:ext cx="6477000" cy="1361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06DDD58-3B82-2737-5D34-33779F94C2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454" y="4621438"/>
            <a:ext cx="7650891" cy="657421"/>
          </a:xfrm>
        </p:spPr>
        <p:txBody>
          <a:bodyPr>
            <a:noAutofit/>
          </a:bodyPr>
          <a:lstStyle/>
          <a:p>
            <a:r>
              <a:rPr lang="en-GB" sz="5400" b="1" dirty="0">
                <a:solidFill>
                  <a:schemeClr val="tx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Learnpython.org</a:t>
            </a:r>
          </a:p>
        </p:txBody>
      </p:sp>
      <p:pic>
        <p:nvPicPr>
          <p:cNvPr id="8" name="Picture 4" descr="Python (programming language) - Wikipedia">
            <a:extLst>
              <a:ext uri="{FF2B5EF4-FFF2-40B4-BE49-F238E27FC236}">
                <a16:creationId xmlns:a16="http://schemas.microsoft.com/office/drawing/2014/main" id="{D326E0F0-9FD1-AD4A-3D77-5729833391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 bwMode="auto">
          <a:xfrm>
            <a:off x="898947" y="4269277"/>
            <a:ext cx="1361745" cy="136174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86A0A26A-07CD-1741-0F72-27C23430A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245" y="2733866"/>
            <a:ext cx="6219952" cy="1183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A09C15-213F-A497-003C-BD97628A434B}"/>
              </a:ext>
            </a:extLst>
          </p:cNvPr>
          <p:cNvSpPr/>
          <p:nvPr/>
        </p:nvSpPr>
        <p:spPr>
          <a:xfrm>
            <a:off x="2956560" y="-998220"/>
            <a:ext cx="1569720" cy="929640"/>
          </a:xfrm>
          <a:prstGeom prst="rect">
            <a:avLst/>
          </a:prstGeom>
          <a:solidFill>
            <a:srgbClr val="F2005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2708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F016A6-DE25-0A47-3FB6-5ABE6B3D08B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2F66883-78EF-D7D4-8A08-0D74DE345A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1" y="537217"/>
            <a:ext cx="2551386" cy="460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028A9A0-8AC9-CB22-8ED5-005AC1B824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3" r="30108"/>
          <a:stretch>
            <a:fillRect/>
          </a:stretch>
        </p:blipFill>
        <p:spPr bwMode="auto">
          <a:xfrm>
            <a:off x="457201" y="1735727"/>
            <a:ext cx="3730480" cy="1638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et Started | MIT OpenCourseWare | Free Online Course Materials">
            <a:extLst>
              <a:ext uri="{FF2B5EF4-FFF2-40B4-BE49-F238E27FC236}">
                <a16:creationId xmlns:a16="http://schemas.microsoft.com/office/drawing/2014/main" id="{DBFCA0DF-87AB-5C93-E084-5CA7DF27B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1" y="3633952"/>
            <a:ext cx="3730480" cy="1468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816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1918" y="3329790"/>
            <a:ext cx="4941771" cy="3200400"/>
          </a:xfrm>
        </p:spPr>
        <p:txBody>
          <a:bodyPr anchor="ctr"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F5859-10C9-4588-9727-B9362E26C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0" y="1020445"/>
            <a:ext cx="2895600" cy="1325563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1D7E5-EF66-4BCD-8DAA-E9061157F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/>
          <a:p>
            <a:r>
              <a:rPr lang="en-US" dirty="0"/>
              <a:t>Topic one</a:t>
            </a:r>
          </a:p>
          <a:p>
            <a:r>
              <a:rPr lang="en-US" dirty="0"/>
              <a:t>Topic two</a:t>
            </a:r>
          </a:p>
          <a:p>
            <a:r>
              <a:rPr lang="en-US" dirty="0"/>
              <a:t>Topic three</a:t>
            </a:r>
          </a:p>
          <a:p>
            <a:r>
              <a:rPr lang="en-US" dirty="0"/>
              <a:t>Topic four</a:t>
            </a:r>
          </a:p>
          <a:p>
            <a:r>
              <a:rPr lang="en-US" dirty="0"/>
              <a:t>Topic five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02A8827-B1A1-2D2F-D6DD-E886B886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219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/>
          <a:lstStyle/>
          <a:p>
            <a:r>
              <a:rPr lang="en-US" dirty="0"/>
              <a:t>The Power of Communication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AFA5E-469B-2BFC-9D4E-BD1EC6E48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680"/>
            <a:ext cx="4179570" cy="3376691"/>
          </a:xfrm>
        </p:spPr>
        <p:txBody>
          <a:bodyPr/>
          <a:lstStyle/>
          <a:p>
            <a:r>
              <a:rPr lang="en-US" dirty="0"/>
              <a:t>Overcoming nervousness</a:t>
            </a:r>
          </a:p>
        </p:txBody>
      </p:sp>
      <p:pic>
        <p:nvPicPr>
          <p:cNvPr id="16" name="Picture Placeholder 15" descr="A person stretching in a gym">
            <a:extLst>
              <a:ext uri="{FF2B5EF4-FFF2-40B4-BE49-F238E27FC236}">
                <a16:creationId xmlns:a16="http://schemas.microsoft.com/office/drawing/2014/main" id="{448EF356-1822-E2AE-2794-322870D4C22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44" r="44"/>
          <a:stretch/>
        </p:blipFill>
        <p:spPr>
          <a:xfrm>
            <a:off x="0" y="-5080"/>
            <a:ext cx="6576291" cy="6872605"/>
          </a:xfr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44268F6-A361-9907-F87F-9C4377ECAE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 flipV="1">
            <a:off x="0" y="254643"/>
            <a:ext cx="6096000" cy="85576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1459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/>
          <a:p>
            <a:r>
              <a:rPr lang="en-US" dirty="0"/>
              <a:t>Techniques for connecting </a:t>
            </a:r>
          </a:p>
          <a:p>
            <a:pPr lvl="1"/>
            <a:r>
              <a:rPr lang="en-US" dirty="0"/>
              <a:t>Make eye contact with your audience to create a sense of intimacy and involvement</a:t>
            </a:r>
          </a:p>
          <a:p>
            <a:pPr lvl="1"/>
            <a:r>
              <a:rPr lang="en-US" dirty="0"/>
              <a:t>Weave relatable stories into your presentation using narratives that make your message memorable and impactful</a:t>
            </a:r>
          </a:p>
          <a:p>
            <a:pPr lvl="1"/>
            <a:r>
              <a:rPr lang="en-US" dirty="0"/>
              <a:t>Encourage questions and provide thoughtful responses to enhance audience participation</a:t>
            </a:r>
          </a:p>
          <a:p>
            <a:pPr lvl="1"/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97BE-403B-122E-90D1-2788978A0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06400"/>
            <a:ext cx="4179570" cy="3457971"/>
          </a:xfrm>
        </p:spPr>
        <p:txBody>
          <a:bodyPr/>
          <a:lstStyle/>
          <a:p>
            <a:r>
              <a:rPr lang="en-US" dirty="0"/>
              <a:t>Selecting Visual Aids</a:t>
            </a:r>
          </a:p>
        </p:txBody>
      </p:sp>
    </p:spTree>
    <p:extLst>
      <p:ext uri="{BB962C8B-B14F-4D97-AF65-F5344CB8AC3E}">
        <p14:creationId xmlns:p14="http://schemas.microsoft.com/office/powerpoint/2010/main" val="334696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E2E6A-35EC-1B8E-0FD7-8C67870AC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568961"/>
            <a:ext cx="8420100" cy="1780860"/>
          </a:xfrm>
        </p:spPr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54B61B9-26F6-B304-92CD-03053DAAF2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33700" y="2797255"/>
            <a:ext cx="3924300" cy="464499"/>
          </a:xfrm>
        </p:spPr>
        <p:txBody>
          <a:bodyPr/>
          <a:lstStyle/>
          <a:p>
            <a:r>
              <a:rPr lang="en-US" dirty="0"/>
              <a:t>Voice modulation</a:t>
            </a:r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EDBE6233-75E9-40D1-968F-58CA9AD0FF5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3251596"/>
            <a:ext cx="3943627" cy="3234264"/>
          </a:xfrm>
        </p:spPr>
        <p:txBody>
          <a:bodyPr>
            <a:normAutofit/>
          </a:bodyPr>
          <a:lstStyle/>
          <a:p>
            <a:r>
              <a:rPr lang="en-US" dirty="0"/>
              <a:t>This is a powerful tool in public speaking. It involves varying pitch, tone, and volume to convey emotion, emphasize points, and maintain interest: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  <a:p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B9F9E8B-42CD-AC26-AFC9-F1F6669569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10173" y="2797255"/>
            <a:ext cx="3943627" cy="464499"/>
          </a:xfrm>
        </p:spPr>
        <p:txBody>
          <a:bodyPr/>
          <a:lstStyle/>
          <a:p>
            <a:r>
              <a:rPr lang="en-US" dirty="0"/>
              <a:t>Body language</a:t>
            </a:r>
          </a:p>
        </p:txBody>
      </p:sp>
      <p:sp>
        <p:nvSpPr>
          <p:cNvPr id="50" name="Content Placeholder 49">
            <a:extLst>
              <a:ext uri="{FF2B5EF4-FFF2-40B4-BE49-F238E27FC236}">
                <a16:creationId xmlns:a16="http://schemas.microsoft.com/office/drawing/2014/main" id="{8F6B2AE9-DDE4-FD99-A235-3B39EEE2148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410173" y="3251595"/>
            <a:ext cx="3943627" cy="3234264"/>
          </a:xfrm>
        </p:spPr>
        <p:txBody>
          <a:bodyPr>
            <a:normAutofit/>
          </a:bodyPr>
          <a:lstStyle/>
          <a:p>
            <a:r>
              <a:rPr lang="en-US" dirty="0"/>
              <a:t>Effective body language enhances your message, making it more impactful </a:t>
            </a:r>
            <a:r>
              <a:rPr lang="en-US"/>
              <a:t>and memorable:</a:t>
            </a:r>
            <a:endParaRPr lang="en-US" dirty="0"/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44A959-C2BB-9170-C99C-1A2EDB71B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58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7D9B3-B64F-656A-0D99-161A6C0F5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558801"/>
            <a:ext cx="9953308" cy="1780860"/>
          </a:xfrm>
        </p:spPr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E5B6E40-3A7D-ACF7-AA38-25977D322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41120" y="2960877"/>
            <a:ext cx="2722880" cy="351284"/>
          </a:xfrm>
        </p:spPr>
        <p:txBody>
          <a:bodyPr/>
          <a:lstStyle/>
          <a:p>
            <a:r>
              <a:rPr lang="en-US" dirty="0"/>
              <a:t>Preparing for questions</a:t>
            </a:r>
          </a:p>
        </p:txBody>
      </p:sp>
      <p:sp>
        <p:nvSpPr>
          <p:cNvPr id="36" name="Content Placeholder 35">
            <a:extLst>
              <a:ext uri="{FF2B5EF4-FFF2-40B4-BE49-F238E27FC236}">
                <a16:creationId xmlns:a16="http://schemas.microsoft.com/office/drawing/2014/main" id="{E71298F0-74F1-FECA-0F02-495F9A2EBA7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1341120" y="3392035"/>
            <a:ext cx="2722880" cy="2907164"/>
          </a:xfrm>
        </p:spPr>
        <p:txBody>
          <a:bodyPr>
            <a:normAutofit/>
          </a:bodyPr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536BD54-EFA1-25A2-9F04-4F22C36E2A5D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4754881" y="2960877"/>
            <a:ext cx="5516880" cy="351284"/>
          </a:xfrm>
        </p:spPr>
        <p:txBody>
          <a:bodyPr/>
          <a:lstStyle/>
          <a:p>
            <a:r>
              <a:rPr lang="en-US" dirty="0"/>
              <a:t>Maintaining composure</a:t>
            </a:r>
          </a:p>
          <a:p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112969F-EB84-49D5-7100-1FB28870FB30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54881" y="3324859"/>
            <a:ext cx="5506720" cy="3031489"/>
          </a:xfrm>
        </p:spPr>
        <p:txBody>
          <a:bodyPr>
            <a:normAutofit/>
          </a:bodyPr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</p:txBody>
      </p:sp>
      <p:sp>
        <p:nvSpPr>
          <p:cNvPr id="68" name="Slide Number Placeholder 67">
            <a:extLst>
              <a:ext uri="{FF2B5EF4-FFF2-40B4-BE49-F238E27FC236}">
                <a16:creationId xmlns:a16="http://schemas.microsoft.com/office/drawing/2014/main" id="{AA0ACADD-CC4E-851C-DA07-C22DB97FA23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6929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8FC28-E0BD-4387-B8BE-9965D1A57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76874" y="1671639"/>
            <a:ext cx="5884027" cy="1204912"/>
          </a:xfrm>
        </p:spPr>
        <p:txBody>
          <a:bodyPr/>
          <a:lstStyle/>
          <a:p>
            <a:r>
              <a:rPr lang="en-US" dirty="0"/>
              <a:t>Speaking Impact</a:t>
            </a:r>
          </a:p>
        </p:txBody>
      </p:sp>
      <p:pic>
        <p:nvPicPr>
          <p:cNvPr id="47" name="Picture Placeholder 46" descr="A person smiling with a shadow on the wall">
            <a:extLst>
              <a:ext uri="{FF2B5EF4-FFF2-40B4-BE49-F238E27FC236}">
                <a16:creationId xmlns:a16="http://schemas.microsoft.com/office/drawing/2014/main" id="{F55BC7A4-EE4B-7EFC-C325-408D66C3CBA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12" r="112"/>
          <a:stretch/>
        </p:blipFill>
        <p:spPr>
          <a:xfrm>
            <a:off x="-28230" y="-9144"/>
            <a:ext cx="5481955" cy="6876288"/>
          </a:xfr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B8313-9270-4128-8674-3A3E42B8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D19BCA-B61F-4EA6-A1FB-CCA3BD8506FB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453725" y="3660774"/>
            <a:ext cx="5907176" cy="2536826"/>
          </a:xfrm>
        </p:spPr>
        <p:txBody>
          <a:bodyPr>
            <a:noAutofit/>
          </a:bodyPr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0" y="876300"/>
            <a:ext cx="5246255" cy="17098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28616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21055C-5E33-5D21-2A6E-21827FA88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/>
          <a:p>
            <a:r>
              <a:rPr lang="en-US" dirty="0"/>
              <a:t>Dynamic </a:t>
            </a:r>
            <a:br>
              <a:rPr lang="en-US" dirty="0"/>
            </a:br>
            <a:r>
              <a:rPr lang="en-US" dirty="0"/>
              <a:t>delivery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87B122-1579-FDB8-443B-F05E622163C3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838200" y="2813049"/>
            <a:ext cx="3247662" cy="3238499"/>
          </a:xfrm>
        </p:spPr>
        <p:txBody>
          <a:bodyPr>
            <a:normAutofit/>
          </a:bodyPr>
          <a:lstStyle/>
          <a:p>
            <a:r>
              <a:rPr lang="en-US"/>
              <a:t>Learn to infuse energy into your delivery to leave a lasting impression</a:t>
            </a:r>
          </a:p>
          <a:p>
            <a:r>
              <a:rPr lang="en-US"/>
              <a:t>One of the goals of effective communication is to motivate your audience</a:t>
            </a:r>
            <a:endParaRPr lang="en-US" dirty="0"/>
          </a:p>
        </p:txBody>
      </p:sp>
      <p:graphicFrame>
        <p:nvGraphicFramePr>
          <p:cNvPr id="10" name="Table Placeholder 2">
            <a:extLst>
              <a:ext uri="{FF2B5EF4-FFF2-40B4-BE49-F238E27FC236}">
                <a16:creationId xmlns:a16="http://schemas.microsoft.com/office/drawing/2014/main" id="{98ED67AF-B48B-F5F8-E2FD-1C98C42C4D54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774504910"/>
              </p:ext>
            </p:extLst>
          </p:nvPr>
        </p:nvGraphicFramePr>
        <p:xfrm>
          <a:off x="4216400" y="895350"/>
          <a:ext cx="7137404" cy="5115889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784351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1784351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784351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784351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810285"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8395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8395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5876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8395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119934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Rate of information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4B0ADB-527F-A58C-9372-D8502ED6F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81646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09140014-73D5-419B-8867-972BB18D5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7192"/>
            <a:ext cx="5655197" cy="1997867"/>
          </a:xfrm>
        </p:spPr>
        <p:txBody>
          <a:bodyPr anchor="b"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2E1CF79-4FDC-8CAF-CC16-E309A2C497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705177"/>
            <a:ext cx="5733772" cy="448990"/>
          </a:xfrm>
        </p:spPr>
        <p:txBody>
          <a:bodyPr/>
          <a:lstStyle/>
          <a:p>
            <a:r>
              <a:rPr lang="en-US" dirty="0"/>
              <a:t>Practice makes perfect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33D8731E-4977-402E-8BFD-895B4D0544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199" y="3154166"/>
            <a:ext cx="5733773" cy="3032733"/>
          </a:xfrm>
        </p:spPr>
        <p:txBody>
          <a:bodyPr>
            <a:noAutofit/>
          </a:bodyPr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  <a:p>
            <a:endParaRPr lang="en-US" dirty="0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AE07A905-8B37-D13F-25D3-1D3BCDB86B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887108" y="2705177"/>
            <a:ext cx="3943627" cy="448989"/>
          </a:xfrm>
        </p:spPr>
        <p:txBody>
          <a:bodyPr/>
          <a:lstStyle/>
          <a:p>
            <a:r>
              <a:rPr lang="en-US" dirty="0"/>
              <a:t>Continue improving</a:t>
            </a:r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4E9A764F-6B65-050E-E561-82F77339D164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887107" y="3164867"/>
            <a:ext cx="3943627" cy="3032733"/>
          </a:xfrm>
        </p:spPr>
        <p:txBody>
          <a:bodyPr>
            <a:normAutofit/>
          </a:bodyPr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96FFDC-ADE8-4009-A466-A81787258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577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3E5FEE2D-79E5-4C1D-8BF7-EE619CA70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10515600" cy="1325563"/>
          </a:xfrm>
        </p:spPr>
        <p:txBody>
          <a:bodyPr anchor="b"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13" name="Table Placeholder 2">
            <a:extLst>
              <a:ext uri="{FF2B5EF4-FFF2-40B4-BE49-F238E27FC236}">
                <a16:creationId xmlns:a16="http://schemas.microsoft.com/office/drawing/2014/main" id="{4A94C7BE-6E60-66F0-EFD4-2F452B0D743A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1224246859"/>
              </p:ext>
            </p:extLst>
          </p:nvPr>
        </p:nvGraphicFramePr>
        <p:xfrm>
          <a:off x="838200" y="2111375"/>
          <a:ext cx="10515601" cy="3570968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433998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2450892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2375942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2254769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733347"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53184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53184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53184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53184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71024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832B776-E386-1CF9-CC8F-2D2FF3EA7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8217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850181"/>
          </a:xfrm>
        </p:spPr>
        <p:txBody>
          <a:bodyPr>
            <a:noAutofit/>
          </a:bodyPr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098107D1-B408-CF41-D098-F18F30FB80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1211" y="1182614"/>
            <a:ext cx="4832430" cy="822960"/>
          </a:xfrm>
        </p:spPr>
        <p:txBody>
          <a:bodyPr tIns="0" bIns="0"/>
          <a:lstStyle/>
          <a:p>
            <a:r>
              <a:rPr lang="en-US" dirty="0"/>
              <a:t>today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057046-1292-17B2-062A-EE2A2AE8208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01213" y="2372810"/>
            <a:ext cx="4832428" cy="3819646"/>
          </a:xfrm>
        </p:spPr>
        <p:txBody>
          <a:bodyPr tIns="91440" bIns="91440" anchor="t">
            <a:normAutofit/>
          </a:bodyPr>
          <a:lstStyle/>
          <a:p>
            <a:r>
              <a:rPr lang="en-US" dirty="0"/>
              <a:t>Growth strategy</a:t>
            </a:r>
          </a:p>
          <a:p>
            <a:r>
              <a:rPr lang="en-US" dirty="0"/>
              <a:t>Market analysis</a:t>
            </a:r>
          </a:p>
          <a:p>
            <a:r>
              <a:rPr lang="en-US" dirty="0"/>
              <a:t>Financial overview</a:t>
            </a:r>
          </a:p>
          <a:p>
            <a:r>
              <a:rPr lang="en-US" dirty="0"/>
              <a:t>Innovative solutions</a:t>
            </a:r>
          </a:p>
          <a:p>
            <a:r>
              <a:rPr lang="en-US" dirty="0"/>
              <a:t>Future initiatives</a:t>
            </a:r>
          </a:p>
        </p:txBody>
      </p:sp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24CE9DC1-A2DD-1D43-E9E8-622D407D8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84886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7E1B-0DBC-06C1-F223-A30C91DC73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612648"/>
            <a:ext cx="11201400" cy="3566160"/>
          </a:xfrm>
        </p:spPr>
        <p:txBody>
          <a:bodyPr/>
          <a:lstStyle/>
          <a:p>
            <a:r>
              <a:rPr lang="en-US" dirty="0"/>
              <a:t>Strategies</a:t>
            </a:r>
            <a:br>
              <a:rPr lang="en-US" dirty="0"/>
            </a:br>
            <a:r>
              <a:rPr lang="en-US" b="0" dirty="0"/>
              <a:t>For Growth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9C759E-CFF8-FDF1-6D2A-8693D7E3F4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50088" y="4688450"/>
            <a:ext cx="4832431" cy="941832"/>
          </a:xfrm>
        </p:spPr>
        <p:txBody>
          <a:bodyPr/>
          <a:lstStyle/>
          <a:p>
            <a:r>
              <a:rPr lang="en-US" dirty="0"/>
              <a:t>NAVIGATING THE FUTURE</a:t>
            </a:r>
          </a:p>
        </p:txBody>
      </p:sp>
    </p:spTree>
    <p:extLst>
      <p:ext uri="{BB962C8B-B14F-4D97-AF65-F5344CB8AC3E}">
        <p14:creationId xmlns:p14="http://schemas.microsoft.com/office/powerpoint/2010/main" val="2712006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DBB7E9F-66A3-E732-9882-019223003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CAD8753-B2FF-7A09-5A9C-053D3E93DF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81516" y="1193716"/>
            <a:ext cx="7964903" cy="738784"/>
          </a:xfrm>
        </p:spPr>
        <p:txBody>
          <a:bodyPr/>
          <a:lstStyle/>
          <a:p>
            <a:r>
              <a:rPr lang="en-US" dirty="0"/>
              <a:t>CURRENT MARKET ANALYSIS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F39BB8-5D79-A2B6-F185-1FDB1B1598C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165475" y="2556387"/>
            <a:ext cx="8237726" cy="3514213"/>
          </a:xfrm>
        </p:spPr>
        <p:txBody>
          <a:bodyPr tIns="91440" bIns="91440">
            <a:noAutofit/>
          </a:bodyPr>
          <a:lstStyle/>
          <a:p>
            <a:pPr lvl="0"/>
            <a:r>
              <a:rPr lang="en-US" noProof="0" dirty="0"/>
              <a:t>We have identified important key trends that demand our attention.</a:t>
            </a:r>
          </a:p>
          <a:p>
            <a:pPr lvl="1"/>
            <a:r>
              <a:rPr lang="en-US" noProof="0" dirty="0"/>
              <a:t>Data reveals a steady increase in consumer demand for sustainable products, presenting an opportunity for our eco-friendly offerings.</a:t>
            </a:r>
          </a:p>
          <a:p>
            <a:pPr lvl="1"/>
            <a:r>
              <a:rPr lang="en-US" noProof="0" dirty="0"/>
              <a:t>Our competitors are now focusing on digital marketing strategies, suggesting a shift in consumer behavior.</a:t>
            </a:r>
          </a:p>
          <a:p>
            <a:pPr lvl="1"/>
            <a:r>
              <a:rPr lang="en-US" noProof="0" dirty="0"/>
              <a:t>Understanding these nuanced dynamics positions us to adapt </a:t>
            </a:r>
            <a:br>
              <a:rPr lang="en-US" noProof="0" dirty="0"/>
            </a:br>
            <a:r>
              <a:rPr lang="en-US" noProof="0" dirty="0"/>
              <a:t>and capitalize on emerging market preferences.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98CBC11D-6840-21B9-CA4B-E2D630DE9D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16160" y="5821679"/>
            <a:ext cx="1948858" cy="129700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1099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3D93A09-8EE1-0589-6584-5A80C8CBA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A8314A1D-E8CE-C7A5-477D-AC8301088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0654" y="960120"/>
            <a:ext cx="4621593" cy="3145536"/>
          </a:xfrm>
        </p:spPr>
        <p:txBody>
          <a:bodyPr anchor="b"/>
          <a:lstStyle/>
          <a:p>
            <a:r>
              <a:rPr lang="en-US" b="0" dirty="0"/>
              <a:t>MARKET</a:t>
            </a:r>
            <a:br>
              <a:rPr lang="en-US" dirty="0"/>
            </a:br>
            <a:r>
              <a:rPr lang="en-US" dirty="0"/>
              <a:t>EXPANSION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5B7E444-9CC1-2E0C-CD13-D46AE7269F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20654" y="4768520"/>
            <a:ext cx="4621593" cy="729206"/>
          </a:xfrm>
        </p:spPr>
        <p:txBody>
          <a:bodyPr/>
          <a:lstStyle/>
          <a:p>
            <a:r>
              <a:rPr lang="en-US" dirty="0"/>
              <a:t>UNLOCKING NEW HORIZONS</a:t>
            </a:r>
          </a:p>
        </p:txBody>
      </p:sp>
      <p:pic>
        <p:nvPicPr>
          <p:cNvPr id="7" name="Picture Placeholder 6" descr="Palm Trees in the sunset&#10;">
            <a:extLst>
              <a:ext uri="{FF2B5EF4-FFF2-40B4-BE49-F238E27FC236}">
                <a16:creationId xmlns:a16="http://schemas.microsoft.com/office/drawing/2014/main" id="{08D0CEA6-AF38-AE14-6270-D7ACE6E8FE4A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rcRect l="16922" r="16922"/>
          <a:stretch/>
        </p:blipFill>
        <p:spPr>
          <a:xfrm>
            <a:off x="991499" y="-8626"/>
            <a:ext cx="4227271" cy="6889750"/>
          </a:xfrm>
        </p:spPr>
      </p:pic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A5817512-F496-86DB-FF1C-124524152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95840" y="5803095"/>
            <a:ext cx="1969178" cy="1315587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90866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2DFD3F5-1FD8-D8E9-A339-2E0AD4362A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0789" y="1115060"/>
            <a:ext cx="10149840" cy="914400"/>
          </a:xfrm>
        </p:spPr>
        <p:txBody>
          <a:bodyPr/>
          <a:lstStyle/>
          <a:p>
            <a:r>
              <a:rPr lang="en-US" dirty="0"/>
              <a:t>PRODUCT LAUNCH</a:t>
            </a:r>
          </a:p>
        </p:txBody>
      </p:sp>
      <p:graphicFrame>
        <p:nvGraphicFramePr>
          <p:cNvPr id="8" name="Content Placeholder 7" descr="A timeline of the product launch">
            <a:extLst>
              <a:ext uri="{FF2B5EF4-FFF2-40B4-BE49-F238E27FC236}">
                <a16:creationId xmlns:a16="http://schemas.microsoft.com/office/drawing/2014/main" id="{EC2509DB-BE59-ED99-D6E3-32F087DBEB97}"/>
              </a:ext>
            </a:extLst>
          </p:cNvPr>
          <p:cNvGraphicFramePr>
            <a:graphicFrameLocks noGrp="1"/>
          </p:cNvGraphicFramePr>
          <p:nvPr>
            <p:ph sz="quarter" idx="17"/>
          </p:nvPr>
        </p:nvGraphicFramePr>
        <p:xfrm>
          <a:off x="979488" y="2300288"/>
          <a:ext cx="4892675" cy="34829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11D5AE8-6921-39C1-E418-851889C6A11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37288" y="2301069"/>
            <a:ext cx="4892675" cy="3482792"/>
          </a:xfrm>
        </p:spPr>
        <p:txBody>
          <a:bodyPr/>
          <a:lstStyle/>
          <a:p>
            <a:pPr lvl="0"/>
            <a:r>
              <a:rPr lang="en-US" noProof="0" dirty="0"/>
              <a:t>Currently gearing up for a ground-breaking launch </a:t>
            </a:r>
          </a:p>
          <a:p>
            <a:pPr lvl="0"/>
            <a:r>
              <a:rPr lang="en-US" noProof="0" dirty="0"/>
              <a:t>Our new offerings will captivate the market</a:t>
            </a:r>
          </a:p>
          <a:p>
            <a:pPr lvl="0"/>
            <a:r>
              <a:rPr lang="en-US" noProof="0" dirty="0"/>
              <a:t>Our marketing campaign will generate anticipation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286C9473-DCBE-5AC0-BD76-5F5BBD9EFC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19360" y="5750559"/>
            <a:ext cx="1745658" cy="136812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723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05465-1429-D275-D49E-7909CB0F0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81516" y="1193716"/>
            <a:ext cx="7964903" cy="738784"/>
          </a:xfrm>
        </p:spPr>
        <p:txBody>
          <a:bodyPr/>
          <a:lstStyle/>
          <a:p>
            <a:pPr lvl="0"/>
            <a:r>
              <a:rPr lang="en-US" noProof="0" dirty="0"/>
              <a:t>MARKETING STRATEGIES</a:t>
            </a:r>
          </a:p>
        </p:txBody>
      </p:sp>
      <p:pic>
        <p:nvPicPr>
          <p:cNvPr id="7" name="Picture Placeholder 6" descr="A palm tree with orange and yellow sky">
            <a:extLst>
              <a:ext uri="{FF2B5EF4-FFF2-40B4-BE49-F238E27FC236}">
                <a16:creationId xmlns:a16="http://schemas.microsoft.com/office/drawing/2014/main" id="{5D9F4C5F-82A5-4F7A-2AC4-3B5A562C6F7C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3"/>
          <a:srcRect t="11" b="11"/>
          <a:stretch/>
        </p:blipFill>
        <p:spPr>
          <a:xfrm>
            <a:off x="443123" y="-899"/>
            <a:ext cx="1657350" cy="685800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11C860-DBA7-1E7E-0DAB-AA0FB426A9F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165475" y="2555875"/>
            <a:ext cx="8237538" cy="3620638"/>
          </a:xfrm>
        </p:spPr>
        <p:txBody>
          <a:bodyPr/>
          <a:lstStyle/>
          <a:p>
            <a:pPr lvl="0"/>
            <a:r>
              <a:rPr lang="en-US" noProof="0" dirty="0"/>
              <a:t>Implement personalized engagement strategies</a:t>
            </a:r>
          </a:p>
          <a:p>
            <a:pPr lvl="0"/>
            <a:r>
              <a:rPr lang="en-US" noProof="0" dirty="0"/>
              <a:t>Tailor campaigns to resonate with specific demographics, </a:t>
            </a:r>
            <a:br>
              <a:rPr lang="en-US" noProof="0" dirty="0"/>
            </a:br>
            <a:r>
              <a:rPr lang="en-US" noProof="0" dirty="0"/>
              <a:t>fostering a sense of relevance and connection</a:t>
            </a:r>
          </a:p>
          <a:p>
            <a:pPr lvl="0"/>
            <a:r>
              <a:rPr lang="en-US" noProof="0" dirty="0"/>
              <a:t>Collaborate with influencers and thought leaders to amplify </a:t>
            </a:r>
            <a:br>
              <a:rPr lang="en-US" noProof="0" dirty="0"/>
            </a:br>
            <a:r>
              <a:rPr lang="en-US" noProof="0" dirty="0"/>
              <a:t>our brand message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59D4463-318E-3270-28E4-84BE78874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16160" y="5821679"/>
            <a:ext cx="1948858" cy="129700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08682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7EF040B4-755A-C69E-F89F-25060E50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9997" y="1100989"/>
            <a:ext cx="9464150" cy="921683"/>
          </a:xfrm>
        </p:spPr>
        <p:txBody>
          <a:bodyPr/>
          <a:lstStyle/>
          <a:p>
            <a:r>
              <a:rPr lang="en-US" dirty="0"/>
              <a:t>FINANCIAL OVERVIEW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37C06334-3BA3-F798-DAFB-F67548D4A5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796158" y="2286688"/>
            <a:ext cx="4160699" cy="4003675"/>
          </a:xfrm>
        </p:spPr>
        <p:txBody>
          <a:bodyPr tIns="91440" bIns="91440">
            <a:normAutofit/>
          </a:bodyPr>
          <a:lstStyle/>
          <a:p>
            <a:r>
              <a:rPr lang="en-US" dirty="0"/>
              <a:t>Our financial overview reflects </a:t>
            </a:r>
            <a:br>
              <a:rPr lang="en-US" dirty="0"/>
            </a:br>
            <a:r>
              <a:rPr lang="en-US" dirty="0"/>
              <a:t>a robust and resilient fiscal performance.</a:t>
            </a:r>
          </a:p>
          <a:p>
            <a:r>
              <a:rPr lang="en-US" dirty="0"/>
              <a:t>Key indicators show consistent revenue growth over the past quarter, attributed to strategic cost management and successful marketing.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4D1C18E5-A1D9-5C68-99FC-1FDBFB37F96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7113448" y="2286688"/>
            <a:ext cx="4160699" cy="4003675"/>
          </a:xfrm>
        </p:spPr>
        <p:txBody>
          <a:bodyPr/>
          <a:lstStyle/>
          <a:p>
            <a:r>
              <a:rPr lang="en-US" dirty="0"/>
              <a:t>Operating margins have improved, signaling operational efficiency, while strengthening our reserves.</a:t>
            </a:r>
          </a:p>
          <a:p>
            <a:r>
              <a:rPr lang="en-US" dirty="0"/>
              <a:t>This underscores our commitment to financial stability, positioning us for sustained growth. 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96582B-479F-BDEB-BD49-B079CDED19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22710" y="5811519"/>
            <a:ext cx="1742307" cy="130716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62737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310A25-DF0E-E2D9-DB16-151A5C8E21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0789" y="1115060"/>
            <a:ext cx="10149840" cy="914400"/>
          </a:xfrm>
        </p:spPr>
        <p:txBody>
          <a:bodyPr/>
          <a:lstStyle/>
          <a:p>
            <a:r>
              <a:rPr lang="en-US" dirty="0"/>
              <a:t>CURRENT MARKET ANALYSIS </a:t>
            </a:r>
          </a:p>
        </p:txBody>
      </p:sp>
      <p:graphicFrame>
        <p:nvGraphicFramePr>
          <p:cNvPr id="5" name="Table Placeholder 2">
            <a:extLst>
              <a:ext uri="{FF2B5EF4-FFF2-40B4-BE49-F238E27FC236}">
                <a16:creationId xmlns:a16="http://schemas.microsoft.com/office/drawing/2014/main" id="{64C1C7E2-03A6-7EE9-F1B3-19DB0877ED78}"/>
              </a:ext>
            </a:extLst>
          </p:cNvPr>
          <p:cNvGraphicFramePr>
            <a:graphicFrameLocks noGrp="1"/>
          </p:cNvGraphicFramePr>
          <p:nvPr>
            <p:ph type="tbl" sz="quarter" idx="17"/>
          </p:nvPr>
        </p:nvGraphicFramePr>
        <p:xfrm>
          <a:off x="979488" y="2311400"/>
          <a:ext cx="7091364" cy="3472575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772841">
                  <a:extLst>
                    <a:ext uri="{9D8B030D-6E8A-4147-A177-3AD203B41FA5}">
                      <a16:colId xmlns:a16="http://schemas.microsoft.com/office/drawing/2014/main" val="30750867"/>
                    </a:ext>
                  </a:extLst>
                </a:gridCol>
                <a:gridCol w="1772841">
                  <a:extLst>
                    <a:ext uri="{9D8B030D-6E8A-4147-A177-3AD203B41FA5}">
                      <a16:colId xmlns:a16="http://schemas.microsoft.com/office/drawing/2014/main" val="1038941322"/>
                    </a:ext>
                  </a:extLst>
                </a:gridCol>
                <a:gridCol w="1772841">
                  <a:extLst>
                    <a:ext uri="{9D8B030D-6E8A-4147-A177-3AD203B41FA5}">
                      <a16:colId xmlns:a16="http://schemas.microsoft.com/office/drawing/2014/main" val="529645500"/>
                    </a:ext>
                  </a:extLst>
                </a:gridCol>
                <a:gridCol w="1772841">
                  <a:extLst>
                    <a:ext uri="{9D8B030D-6E8A-4147-A177-3AD203B41FA5}">
                      <a16:colId xmlns:a16="http://schemas.microsoft.com/office/drawing/2014/main" val="3469610457"/>
                    </a:ext>
                  </a:extLst>
                </a:gridCol>
              </a:tblGrid>
              <a:tr h="69451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Quarter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Revenue growth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Market share increase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Customer acquisition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432886"/>
                  </a:ext>
                </a:extLst>
              </a:tr>
              <a:tr h="69451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240625"/>
                  </a:ext>
                </a:extLst>
              </a:tr>
              <a:tr h="69451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2393470"/>
                  </a:ext>
                </a:extLst>
              </a:tr>
              <a:tr h="69451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1364400"/>
                  </a:ext>
                </a:extLst>
              </a:tr>
              <a:tr h="69451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6263980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EB7C0-CEAD-070D-440B-E72D2B1A78D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445190" y="2301069"/>
            <a:ext cx="2684773" cy="3482792"/>
          </a:xfrm>
        </p:spPr>
        <p:txBody>
          <a:bodyPr/>
          <a:lstStyle/>
          <a:p>
            <a:pPr lvl="0"/>
            <a:r>
              <a:rPr lang="en-US" noProof="0" dirty="0"/>
              <a:t>Market expansion</a:t>
            </a:r>
          </a:p>
          <a:p>
            <a:pPr lvl="0"/>
            <a:r>
              <a:rPr lang="en-US" noProof="0" dirty="0"/>
              <a:t>Product innovation</a:t>
            </a:r>
          </a:p>
          <a:p>
            <a:pPr lvl="0"/>
            <a:r>
              <a:rPr lang="en-US" noProof="0" dirty="0"/>
              <a:t>Customer retention</a:t>
            </a:r>
          </a:p>
          <a:p>
            <a:pPr lvl="0"/>
            <a:r>
              <a:rPr lang="en-US" noProof="0" dirty="0"/>
              <a:t>Operational efficiency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53145F-C768-2BFB-0397-EA7813AC3E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19360" y="5882640"/>
            <a:ext cx="1745658" cy="1236042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9314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9C5D41-AFFD-A8E9-29C5-5794079B3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0789" y="1115060"/>
            <a:ext cx="10149840" cy="914400"/>
          </a:xfrm>
        </p:spPr>
        <p:txBody>
          <a:bodyPr/>
          <a:lstStyle/>
          <a:p>
            <a:r>
              <a:rPr lang="en-US" dirty="0"/>
              <a:t>FINANCIAL SNAPSHOT</a:t>
            </a:r>
          </a:p>
        </p:txBody>
      </p:sp>
      <p:graphicFrame>
        <p:nvGraphicFramePr>
          <p:cNvPr id="4" name="Table Placeholder 3">
            <a:extLst>
              <a:ext uri="{FF2B5EF4-FFF2-40B4-BE49-F238E27FC236}">
                <a16:creationId xmlns:a16="http://schemas.microsoft.com/office/drawing/2014/main" id="{205B8EF7-9ABF-081A-1BED-132A52B49BFD}"/>
              </a:ext>
            </a:extLst>
          </p:cNvPr>
          <p:cNvGraphicFramePr>
            <a:graphicFrameLocks noGrp="1"/>
          </p:cNvGraphicFramePr>
          <p:nvPr>
            <p:ph type="tbl" sz="quarter" idx="17"/>
          </p:nvPr>
        </p:nvGraphicFramePr>
        <p:xfrm>
          <a:off x="979488" y="2311400"/>
          <a:ext cx="10150476" cy="3472573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2537619">
                  <a:extLst>
                    <a:ext uri="{9D8B030D-6E8A-4147-A177-3AD203B41FA5}">
                      <a16:colId xmlns:a16="http://schemas.microsoft.com/office/drawing/2014/main" val="130956065"/>
                    </a:ext>
                  </a:extLst>
                </a:gridCol>
                <a:gridCol w="2537619">
                  <a:extLst>
                    <a:ext uri="{9D8B030D-6E8A-4147-A177-3AD203B41FA5}">
                      <a16:colId xmlns:a16="http://schemas.microsoft.com/office/drawing/2014/main" val="2749965458"/>
                    </a:ext>
                  </a:extLst>
                </a:gridCol>
                <a:gridCol w="2537619">
                  <a:extLst>
                    <a:ext uri="{9D8B030D-6E8A-4147-A177-3AD203B41FA5}">
                      <a16:colId xmlns:a16="http://schemas.microsoft.com/office/drawing/2014/main" val="2116711163"/>
                    </a:ext>
                  </a:extLst>
                </a:gridCol>
                <a:gridCol w="2537619">
                  <a:extLst>
                    <a:ext uri="{9D8B030D-6E8A-4147-A177-3AD203B41FA5}">
                      <a16:colId xmlns:a16="http://schemas.microsoft.com/office/drawing/2014/main" val="1186885001"/>
                    </a:ext>
                  </a:extLst>
                </a:gridCol>
              </a:tblGrid>
              <a:tr h="56430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Current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Previous quarter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Change (%)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1017008"/>
                  </a:ext>
                </a:extLst>
              </a:tr>
              <a:tr h="56430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Revenue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$2,500,000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2,200,000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+14%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1888340"/>
                  </a:ext>
                </a:extLst>
              </a:tr>
              <a:tr h="65106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Operating expenses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$1,200,000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$1,400,000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7089168"/>
                  </a:ext>
                </a:extLst>
              </a:tr>
              <a:tr h="56430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Net profit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$1,000,000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$800,000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1597798"/>
                  </a:ext>
                </a:extLst>
              </a:tr>
              <a:tr h="56430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Operating margin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4376521"/>
                  </a:ext>
                </a:extLst>
              </a:tr>
              <a:tr h="56430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Cash reserves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$5,000,000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$4,500,000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+11%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8266800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BF7E3F-EA3F-66F7-780E-2B28D2B959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19360" y="5882640"/>
            <a:ext cx="1745658" cy="1236042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01756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9095B70-2478-5E74-1C58-F992FCF89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FDE90FA-B2D6-271E-E3BA-DFD5473232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0058" t="20998" r="58163" b="4541"/>
          <a:stretch/>
        </p:blipFill>
        <p:spPr>
          <a:xfrm rot="10800000" flipH="1">
            <a:off x="8014009" y="-9201"/>
            <a:ext cx="3696438" cy="686719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BDD10D-46FC-8F66-E49E-27168CEDB0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14009" y="-9773"/>
            <a:ext cx="3696437" cy="686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EAA059BC-A537-86B8-67D8-E1DE10B2F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0090" y="1"/>
            <a:ext cx="7626710" cy="6857046"/>
          </a:xfrm>
        </p:spPr>
        <p:txBody>
          <a:bodyPr/>
          <a:lstStyle/>
          <a:p>
            <a:r>
              <a:rPr lang="en-US" dirty="0"/>
              <a:t>Innovative</a:t>
            </a:r>
            <a:br>
              <a:rPr lang="en-US" dirty="0"/>
            </a:br>
            <a:r>
              <a:rPr lang="en-US" b="1" dirty="0"/>
              <a:t>Solutions</a:t>
            </a:r>
          </a:p>
        </p:txBody>
      </p:sp>
      <p:pic>
        <p:nvPicPr>
          <p:cNvPr id="17" name="Picture Placeholder 16" descr="Palm trees in the sun">
            <a:extLst>
              <a:ext uri="{FF2B5EF4-FFF2-40B4-BE49-F238E27FC236}">
                <a16:creationId xmlns:a16="http://schemas.microsoft.com/office/drawing/2014/main" id="{20F1E8CE-AF10-3828-3604-0C9B3CEF72A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/>
          <a:srcRect t="135" b="135"/>
          <a:stretch/>
        </p:blipFill>
        <p:spPr>
          <a:xfrm>
            <a:off x="8510588" y="-953"/>
            <a:ext cx="3200400" cy="6858000"/>
          </a:xfrm>
        </p:spPr>
      </p:pic>
    </p:spTree>
    <p:extLst>
      <p:ext uri="{BB962C8B-B14F-4D97-AF65-F5344CB8AC3E}">
        <p14:creationId xmlns:p14="http://schemas.microsoft.com/office/powerpoint/2010/main" val="39837515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29">
            <a:extLst>
              <a:ext uri="{FF2B5EF4-FFF2-40B4-BE49-F238E27FC236}">
                <a16:creationId xmlns:a16="http://schemas.microsoft.com/office/drawing/2014/main" id="{74950847-1B0D-80D6-BC57-8B2805A34F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4423" y="1193716"/>
            <a:ext cx="7964903" cy="738784"/>
          </a:xfrm>
        </p:spPr>
        <p:txBody>
          <a:bodyPr/>
          <a:lstStyle/>
          <a:p>
            <a:r>
              <a:rPr lang="en-US" dirty="0"/>
              <a:t>FUTURE INITIATIVES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F8BCA836-79AE-2F05-96FD-2646EFE34FB2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46163" y="2304733"/>
            <a:ext cx="2713037" cy="3760787"/>
          </a:xfrm>
        </p:spPr>
        <p:txBody>
          <a:bodyPr tIns="91440" bIns="91440">
            <a:normAutofit/>
          </a:bodyPr>
          <a:lstStyle/>
          <a:p>
            <a:r>
              <a:rPr lang="en-US" dirty="0"/>
              <a:t>Green supply chain</a:t>
            </a:r>
          </a:p>
          <a:p>
            <a:r>
              <a:rPr lang="en-US" dirty="0"/>
              <a:t>Reduced carbon footprint</a:t>
            </a:r>
          </a:p>
          <a:p>
            <a:r>
              <a:rPr lang="en-US" dirty="0"/>
              <a:t>Waste reduction</a:t>
            </a:r>
          </a:p>
          <a:p>
            <a:r>
              <a:rPr lang="en-US" dirty="0"/>
              <a:t>Water conservation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B905DB8B-9E83-6EAC-3E60-64AA6F338FA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066468" y="2304733"/>
            <a:ext cx="4972858" cy="3760788"/>
          </a:xfrm>
        </p:spPr>
        <p:txBody>
          <a:bodyPr/>
          <a:lstStyle/>
          <a:p>
            <a:r>
              <a:rPr lang="en-US" b="1" dirty="0"/>
              <a:t>Product enhancement</a:t>
            </a:r>
            <a:r>
              <a:rPr lang="en-US" dirty="0"/>
              <a:t>. Introduce regular updates and features to enhance product offerings.</a:t>
            </a:r>
          </a:p>
          <a:p>
            <a:r>
              <a:rPr lang="en-US" b="1" dirty="0"/>
              <a:t>Technology integration</a:t>
            </a:r>
            <a:r>
              <a:rPr lang="en-US" dirty="0"/>
              <a:t>. Explore emerging technologies for potential integration into our operations.</a:t>
            </a:r>
          </a:p>
          <a:p>
            <a:r>
              <a:rPr lang="en-US" b="1" dirty="0"/>
              <a:t>Collaborative partnerships</a:t>
            </a:r>
            <a:r>
              <a:rPr lang="en-US" dirty="0"/>
              <a:t>. Foster collaborations with tech innovators and industry leaders to drive innovation.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96582B-479F-BDEB-BD49-B079CDED19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16160" y="5821679"/>
            <a:ext cx="1948858" cy="129700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4137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13DDD-5E35-46D0-0102-2C296FFD9B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9" y="70439"/>
            <a:ext cx="12178162" cy="353358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C655E-4E07-A234-D449-E79AFF696B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11879" y="3645514"/>
            <a:ext cx="8009681" cy="731838"/>
          </a:xfrm>
        </p:spPr>
        <p:txBody>
          <a:bodyPr/>
          <a:lstStyle/>
          <a:p>
            <a:pPr lvl="0"/>
            <a:r>
              <a:rPr lang="en-US" noProof="0" dirty="0"/>
              <a:t>CASEY JENSEN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5A1C9A-CBD4-DF94-E4C4-43F01C82D07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09750" y="4826000"/>
            <a:ext cx="4001770" cy="590174"/>
          </a:xfrm>
        </p:spPr>
        <p:txBody>
          <a:bodyPr/>
          <a:lstStyle/>
          <a:p>
            <a:pPr lvl="0"/>
            <a:r>
              <a:rPr lang="en-US" noProof="0" dirty="0"/>
              <a:t>casey@contoso.com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D38B90-7BBC-6851-EEB1-12D13B138FE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77560" y="4826000"/>
            <a:ext cx="4001770" cy="590174"/>
          </a:xfrm>
        </p:spPr>
        <p:txBody>
          <a:bodyPr/>
          <a:lstStyle/>
          <a:p>
            <a:pPr lvl="0"/>
            <a:r>
              <a:rPr lang="en-US" noProof="0" dirty="0"/>
              <a:t>www.contoso.com</a:t>
            </a:r>
          </a:p>
        </p:txBody>
      </p:sp>
    </p:spTree>
    <p:extLst>
      <p:ext uri="{BB962C8B-B14F-4D97-AF65-F5344CB8AC3E}">
        <p14:creationId xmlns:p14="http://schemas.microsoft.com/office/powerpoint/2010/main" val="2137532734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Minimalist presentation</Template>
  <TotalTime>472</TotalTime>
  <Words>1091</Words>
  <Application>Microsoft Office PowerPoint</Application>
  <PresentationFormat>Widescreen</PresentationFormat>
  <Paragraphs>269</Paragraphs>
  <Slides>28</Slides>
  <Notes>26</Notes>
  <HiddenSlides>12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ADLaM Display</vt:lpstr>
      <vt:lpstr>Arial</vt:lpstr>
      <vt:lpstr>Calibri</vt:lpstr>
      <vt:lpstr>Tenorite</vt:lpstr>
      <vt:lpstr>Custom</vt:lpstr>
      <vt:lpstr>PowerPoint Presentation</vt:lpstr>
      <vt:lpstr>Learnpython.org</vt:lpstr>
      <vt:lpstr>PowerPoint Presentation</vt:lpstr>
      <vt:lpstr>Basic Presentation</vt:lpstr>
      <vt:lpstr>AGENDA</vt:lpstr>
      <vt:lpstr>The Power of Communication</vt:lpstr>
      <vt:lpstr>Overcoming nervousness</vt:lpstr>
      <vt:lpstr>Engaging the audience</vt:lpstr>
      <vt:lpstr>Selecting Visual Aids</vt:lpstr>
      <vt:lpstr>Effective delivery techniques</vt:lpstr>
      <vt:lpstr>Navigating Q&amp;A Sessions</vt:lpstr>
      <vt:lpstr>Speaking Impact</vt:lpstr>
      <vt:lpstr>Dynamic  delivery</vt:lpstr>
      <vt:lpstr>Final tips &amp; takeaways</vt:lpstr>
      <vt:lpstr>Speaking engagement metrics</vt:lpstr>
      <vt:lpstr>THANK YOU</vt:lpstr>
      <vt:lpstr>today</vt:lpstr>
      <vt:lpstr>Strategies For Growth</vt:lpstr>
      <vt:lpstr>CURRENT MARKET ANALYSIS</vt:lpstr>
      <vt:lpstr>MARKET EXPANSION</vt:lpstr>
      <vt:lpstr>PRODUCT LAUNCH</vt:lpstr>
      <vt:lpstr>MARKETING STRATEGIES</vt:lpstr>
      <vt:lpstr>FINANCIAL OVERVIEW</vt:lpstr>
      <vt:lpstr>CURRENT MARKET ANALYSIS </vt:lpstr>
      <vt:lpstr>FINANCIAL SNAPSHOT</vt:lpstr>
      <vt:lpstr>Innovative Solutions</vt:lpstr>
      <vt:lpstr>FUTURE INITIATIVES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Elliot Cooke</dc:creator>
  <cp:lastModifiedBy>Elliot Cooke</cp:lastModifiedBy>
  <cp:revision>3</cp:revision>
  <dcterms:created xsi:type="dcterms:W3CDTF">2026-04-15T07:14:01Z</dcterms:created>
  <dcterms:modified xsi:type="dcterms:W3CDTF">2026-04-17T21:14:57Z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